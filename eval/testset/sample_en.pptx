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building management system collects data from more than 2,000 points and sends alarms to the operator within 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saving control is enabled only when the occupancy rate is below 30 percent and the outdoor air temperature is above 32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Building Platform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Management System (BMS) Integration Proposal — 15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The </a:t>
            </a:r>
            <a:r>
              <a:rPr b="1"/>
              <a:t>Building Management System</a:t>
            </a:r>
            <a:r>
              <a:rPr/>
              <a:t> monitors and controls HVAC equipment.</a:t>
            </a:r>
          </a:p>
          <a:p>
            <a:pPr lvl="1"/>
            <a:r>
              <a:rPr/>
              <a:t>Air Handling Unit (AHU) and Fan Coil Unit (FCU) control</a:t>
            </a:r>
          </a:p>
          <a:p>
            <a:pPr lvl="1"/>
            <a:r>
              <a:rPr/>
              <a:t>Variable Air Volume (VAV) terminal control</a:t>
            </a:r>
          </a:p>
          <a:p>
            <a:pPr/>
            <a:r>
              <a:rPr b="1">
                <a:solidFill>
                  <a:srgbClr val="C01F1F"/>
                </a:solidFill>
              </a:rPr>
              <a:t>Alarm</a:t>
            </a:r>
            <a:r>
              <a:rPr/>
              <a:t> and </a:t>
            </a:r>
            <a:r>
              <a:rPr i="1"/>
              <a:t>equipment status</a:t>
            </a:r>
            <a:r>
              <a:rPr/>
              <a:t> monitoring 24/7</a:t>
            </a:r>
          </a:p>
          <a:p>
            <a:pPr/>
            <a:r>
              <a:rPr/>
              <a:t>Energy Management System (EMS) for energy consumption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Sensors and Field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Occupancy sensor</a:t>
            </a:r>
          </a:p>
          <a:p>
            <a:pPr/>
            <a:r>
              <a:rPr/>
              <a:t>CO2 sensor (0–2,000 ppm)</a:t>
            </a:r>
          </a:p>
          <a:p>
            <a:pPr/>
            <a:r>
              <a:rPr/>
              <a:t>Temperature sensor: ±0.2 °C accuracy</a:t>
            </a:r>
          </a:p>
          <a:p>
            <a:pPr/>
            <a:r>
              <a:rPr/>
              <a:t>Humidity: 30–70 %RH</a:t>
            </a:r>
          </a:p>
          <a:p>
            <a:pPr/>
            <a:r>
              <a:rPr/>
              <a:t>Model </a:t>
            </a:r>
            <a:r>
              <a:rPr b="1"/>
              <a:t>FX-PCG2611-0</a:t>
            </a:r>
            <a:r>
              <a:rPr/>
              <a:t> controller, firmware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/>
                <a:t>Edge device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/>
                <a:t>Gateway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/>
                <a:t>Cloud platform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/>
                <a:t>Dashboard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Field controllers communicate over BACnet/IP and Modbus TCP; the gateway publishes telemetry to the cloud platform via MQTT over TLS (port 8883).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Typical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Default port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HVAC controllers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Power meters, chillers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IoT telemetry to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Twisted pair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Lighting and blinds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Efficiency and Demand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Peak demand reduced by 18% in summer 2025</a:t>
            </a:r>
          </a:p>
          <a:p>
            <a:pPr/>
            <a:r>
              <a:rPr/>
              <a:t>Energy consumption: 1,250 MWh/year → 1,020 MWh/year</a:t>
            </a:r>
          </a:p>
          <a:p>
            <a:pPr/>
            <a:r>
              <a:rPr b="1"/>
              <a:t>Demand response</a:t>
            </a:r>
            <a:r>
              <a:rPr/>
              <a:t> signals are received from the utility via </a:t>
            </a:r>
            <a:r>
              <a:rPr b="1">
                <a:solidFill>
                  <a:srgbClr val="1F4E9A"/>
                </a:solidFill>
              </a:rPr>
              <a:t>OpenADR 2.0b</a:t>
            </a:r>
          </a:p>
          <a:p>
            <a:pPr/>
            <a:r>
              <a:rPr/>
              <a:t>Setpoint adjustment: cooling setpoint raised from 24 °C to 26 °C during peak hours</a:t>
            </a:r>
          </a:p>
          <a:p>
            <a:pPr/>
            <a:r>
              <a:rPr/>
              <a:t>Power consumption is measured every 15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and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BMS server: 192.168.1.100 (VLAN 20)</a:t>
            </a:r>
          </a:p>
          <a:p>
            <a:pPr/>
            <a:r>
              <a:rPr/>
              <a:t>Web dashboard: https://bms.example.com/dashboard</a:t>
            </a:r>
          </a:p>
          <a:p>
            <a:pPr/>
            <a:r>
              <a:rPr/>
              <a:t>Support: support@example.com</a:t>
            </a:r>
          </a:p>
          <a:p>
            <a:pPr/>
            <a:r>
              <a:rPr/>
              <a:t>Configuration file: C:\Program Files\BMS\config\points.json</a:t>
            </a:r>
          </a:p>
          <a:p>
            <a:pPr/>
            <a:r>
              <a:rPr/>
              <a:t>REST API over HTTPS; payloads in JSON, legacy exports in XML and 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 and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When a chiller alarm occurs, the system automatically notifies the maintenance team by e-mail and creates a work order, and if the alarm is not acknowledged within 30 minutes, it is escalated to the facility manager.</a:t>
            </a:r>
          </a:p>
          <a:p>
            <a:pPr/>
            <a:r>
              <a:rPr/>
              <a:t>Scheduled maintenance of the AHU filters is performed every 3 months.</a:t>
            </a:r>
          </a:p>
          <a:p>
            <a:pPr/>
            <a:r>
              <a:rPr/>
              <a:t>The PLC and SCADA system remain in service during the migration period.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Automation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Phase 1 (Q2 2026): Building automation system upgrade</a:t>
            </a:r>
          </a:p>
          <a:p>
            <a:pPr/>
            <a:r>
              <a:rPr/>
              <a:t>Phase 2 (Q4 2026): IoT sensors and edge devices</a:t>
            </a:r>
          </a:p>
          <a:p>
            <a:pPr/>
            <a:r>
              <a:rPr/>
              <a:t>Phase 3 (2027): AI-based fault detection and diagnostics (FDD)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