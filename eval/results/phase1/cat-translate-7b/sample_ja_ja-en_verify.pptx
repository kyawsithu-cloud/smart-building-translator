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Energy-saving control is only activated when the occupancy rate is below 30% and the outdoor air temperature exceeds 32°C.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sz="3520"/>
              <a:t>Smart Building Platform Overview</a:t>
            </a:r>
            <a:br>
              <a:rPr lang="en-US" sz="3520"/>
            </a:br>
            <a:br>
              <a:rPr lang="en-US" sz="3520"/>
            </a:br>
            <a:r>
              <a:rPr lang="en-US" sz="3520"/>
              <a:t>The Smart Building Platform is a comprehensive solution that integrates various technologies and services to create a connected, intelligent building environment. It combines cutting-edge technologies such as IoT (Internet of Things), AI (Artificial Intelligence), and machine learning to deliver advanced capabilities and services to building occupants and operators.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Key Features and Benefits:</a:t>
            </a:r>
            <a:br>
              <a:rPr lang="en-US" sz="3520"/>
            </a:br>
            <a:r>
              <a:rPr lang="en-US" sz="3520"/>
              <a:t>1. Connected Environment: The platform enables seamless integration of multiple technologies and services, creating a connected, intelligent building environment.</a:t>
            </a:r>
            <a:br>
              <a:rPr lang="en-US" sz="3520"/>
            </a:br>
            <a:r>
              <a:rPr lang="en-US" sz="3520"/>
              <a:t>2. Advanced Capabilities: It delivers advanced capabilities and services to building occupants and operators through cutting-edge technologies like IoT, AI, and machine learning.</a:t>
            </a:r>
            <a:br>
              <a:rPr lang="en-US" sz="3520"/>
            </a:br>
            <a:r>
              <a:rPr lang="en-US" sz="3520"/>
              <a:t>3. Efficient Management: The platform facilitates efficient management of building operations and maintenance, including energy consumption monitoring, occupancy detection, and facility security.</a:t>
            </a:r>
            <a:br>
              <a:rPr lang="en-US" sz="3520"/>
            </a:br>
            <a:r>
              <a:rPr lang="en-US" sz="3520"/>
              <a:t>4. Enhanced User Experience: It enhances the user experience for building occupants and operators by providing intuitive interfaces and personalized services.</a:t>
            </a:r>
            <a:br>
              <a:rPr lang="en-US" sz="3520"/>
            </a:br>
            <a:r>
              <a:rPr lang="en-US" sz="3520"/>
              <a:t>5. Integration with External Systems: The platform integrates with external systems to enable seamless integration of various technologies and services.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Key Components:</a:t>
            </a:r>
            <a:br>
              <a:rPr lang="en-US" sz="3520"/>
            </a:br>
            <a:r>
              <a:rPr lang="en-US" sz="3520"/>
              <a:t>1. IoT (Internet of Things): The platform utilizes 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4180"/>
              <a:t>Building Management System (BMS) Integration Proposal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</a:t>
            </a:r>
            <a:r>
              <a:rPr b="1" lang="en-US"/>
              <a:t>Building Management System</a:t>
            </a:r>
            <a:r>
              <a:rPr lang="en-US"/>
              <a:t> monitors and controls the air conditioning equipment.</a:t>
            </a:r>
          </a:p>
          <a:p>
            <a:pPr lvl="1"/>
            <a:r>
              <a:rPr lang="en-US"/>
              <a:t>Control of Air Handling Units (AHUs) and Fan Coil Units (FCUs)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lang="en-US"/>
              <a:t>24-hour monitoring of </a:t>
            </a:r>
            <a:r>
              <a:rPr b="1" lang="en-US">
                <a:solidFill>
                  <a:srgbClr val="C01F1F"/>
                </a:solidFill>
              </a:rPr>
              <a:t>alarms</a:t>
            </a:r>
            <a:r>
              <a:rPr lang="en-US"/>
              <a:t> and </a:t>
            </a:r>
            <a:r>
              <a:rPr i="1" lang="en-US"/>
              <a:t>equipment status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  <a:br>
              <a:rPr lang="en-US" sz="2560"/>
            </a:br>
            <a:r>
              <a:rPr lang="en-US" sz="2560"/>
              <a:t>occupancy sensor</a:t>
            </a:r>
          </a:p>
          <a:p>
            <a:pPr/>
            <a:r>
              <a:rPr lang="en-US" sz="2560"/>
              <a:t>CO2 sensor (0–2,000 ppm)</a:t>
            </a:r>
          </a:p>
          <a:p>
            <a:pPr/>
            <a:r>
              <a:rPr lang="en-US" sz="2560"/>
              <a:t>Temperature sensor: Accuracy ±0.2 °C</a:t>
            </a:r>
          </a:p>
          <a:p>
            <a:pPr/>
            <a:r>
              <a:rPr lang="en-US" sz="2560"/>
              <a:t>Humidity: 30-70% RH</a:t>
            </a:r>
          </a:p>
          <a:p>
            <a:pPr/>
            <a:r>
              <a:rPr lang="en-US" sz="2560"/>
              <a:t>Model </a:t>
            </a:r>
            <a:r>
              <a:rPr b="1" lang="en-US" sz="2560"/>
              <a:t>FX-PCG2611-0</a:t>
            </a:r>
            <a:r>
              <a:rPr lang="en-US" sz="2560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System Configuration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via BACnet/IP and Modbus TCP, while the gateway sends telemetry to the cloud platform using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3520"/>
              <a:t>Protocol Comparison</a:t>
            </a:r>
            <a:br>
              <a:rPr lang="en-US" sz="3520"/>
            </a:br>
            <a:br>
              <a:rPr lang="en-US" sz="3520"/>
            </a:br>
            <a:r>
              <a:rPr lang="en-US" sz="3520"/>
              <a:t>Protocol comparison is a process of comparing different protocols to determine their relative merits and drawbacks. This involves evaluating each protocol's performance characteristics, performance characteristics, and performance characteristics.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The process involves:</a:t>
            </a:r>
            <a:br>
              <a:rPr lang="en-US" sz="3520"/>
            </a:br>
            <a:r>
              <a:rPr lang="en-US" sz="3520"/>
              <a:t>1. Identifying the protocols to be compared.</a:t>
            </a:r>
            <a:br>
              <a:rPr lang="en-US" sz="3520"/>
            </a:br>
            <a:r>
              <a:rPr lang="en-US" sz="3520"/>
              <a:t>2. Defining the criteria for comparison.</a:t>
            </a:r>
            <a:br>
              <a:rPr lang="en-US" sz="3520"/>
            </a:br>
            <a:r>
              <a:rPr lang="en-US" sz="3520"/>
              <a:t>3. Conducting performance tests and performance tests.</a:t>
            </a:r>
            <a:br>
              <a:rPr lang="en-US" sz="3520"/>
            </a:br>
            <a:r>
              <a:rPr lang="en-US" sz="3520"/>
              <a:t>4. Analyzing the results of the performance tests.</a:t>
            </a:r>
            <a:br>
              <a:rPr lang="en-US" sz="3520"/>
            </a:br>
            <a:r>
              <a:rPr lang="en-US" sz="3520"/>
              <a:t>5. Evaluating the relative merits and drawbacks of each protocol.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This process is typically conducted by:</a:t>
            </a:r>
            <a:br>
              <a:rPr lang="en-US" sz="3520"/>
            </a:br>
            <a:r>
              <a:rPr lang="en-US" sz="3520"/>
              <a:t>- Researchers in the field of protocols and networking.</a:t>
            </a:r>
            <a:br>
              <a:rPr lang="en-US" sz="3520"/>
            </a:br>
            <a:r>
              <a:rPr lang="en-US" sz="3520"/>
              <a:t>- Engineers and developers working on protocols and networking systems.</a:t>
            </a:r>
            <a:br>
              <a:rPr lang="en-US" sz="3520"/>
            </a:br>
            <a:r>
              <a:rPr lang="en-US" sz="3520"/>
              <a:t>- System administrators and network administrators.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The results of the comparison can be used to:</a:t>
            </a:r>
            <a:br>
              <a:rPr lang="en-US" sz="3520"/>
            </a:br>
            <a:r>
              <a:rPr lang="en-US" sz="3520"/>
              <a:t>- Improve existing protocols.</a:t>
            </a:r>
            <a:br>
              <a:rPr lang="en-US" sz="3520"/>
            </a:br>
            <a:r>
              <a:rPr lang="en-US" sz="3520"/>
              <a:t>- Develop new protocols based on the findings.</a:t>
            </a:r>
            <a:br>
              <a:rPr lang="en-US" sz="3520"/>
            </a:br>
            <a:r>
              <a:rPr lang="en-US" sz="3520"/>
              <a:t>- Inform policy decisions regarding protocols and networking.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Example:</a:t>
            </a:r>
            <a:br>
              <a:rPr lang="en-US" sz="3520"/>
            </a:br>
            <a:br>
              <a:rPr lang="en-US" sz="3520"/>
            </a:br>
            <a:r>
              <a:rPr lang="en-US" sz="3520"/>
              <a:t>Protocol comparison is a process of comparing different protocols to determine their relative merits and drawbacks. This involves evaluating each protocol's performance characteristics, performance characteristics, and performance characteristics.</a:t>
            </a:r>
            <a:br>
              <a:rPr lang="en-US" sz="3520"/>
            </a:br>
            <a:br>
              <a:rPr lang="en-US" sz="3520"/>
            </a:br>
            <a:r>
              <a:rPr lang="en-US" sz="3520"/>
              <a:t>The process involves:</a:t>
            </a:r>
            <a:br>
              <a:rPr lang="en-US" sz="3520"/>
            </a:br>
            <a:r>
              <a:rPr lang="en-US" sz="3520"/>
              <a:t>1. Ident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  <a:br>
                        <a:rPr lang="en-US"/>
                      </a:br>
                      <a:r>
                        <a:rPr lang="en-US"/>
                        <a:t>Main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assistant</a:t>
                      </a:r>
                      <a:br>
                        <a:rPr lang="en-US"/>
                      </a:br>
                      <a:r>
                        <a:rPr lang="en-US"/>
                        <a:t>ass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 Conditioning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Electricity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the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Conservation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880"/>
              <a:t>Reduce peak demand by 18% in the summer of 2025.</a:t>
            </a:r>
          </a:p>
          <a:p>
            <a:pPr/>
            <a:r>
              <a:rPr lang="en-US" sz="2880"/>
              <a:t>Energy consumption: 1,250 MWh/year → 1,020 MWh/year</a:t>
            </a:r>
          </a:p>
          <a:p>
            <a:pPr/>
            <a:r>
              <a:rPr lang="en-US" sz="2880"/>
              <a:t>The </a:t>
            </a:r>
            <a:r>
              <a:rPr b="1" lang="en-US" sz="2880"/>
              <a:t>Demand Response</a:t>
            </a:r>
            <a:r>
              <a:rPr lang="en-US" sz="2880"/>
              <a:t> signal is received from the power company via </a:t>
            </a:r>
            <a:r>
              <a:rPr b="1" lang="en-US" sz="2880">
                <a:solidFill>
                  <a:srgbClr val="1F4E9A"/>
                </a:solidFill>
              </a:rPr>
              <a:t>OpenADR 2.0b</a:t>
            </a:r>
            <a:r>
              <a:rPr lang="en-US" sz="2880"/>
              <a:t>.</a:t>
            </a:r>
          </a:p>
          <a:p>
            <a:pPr/>
            <a:r>
              <a:rPr lang="en-US" sz="2880"/>
              <a:t>Setpoint adjustment: Change the cooling setpoint from 24°C to 26°C during peak hours.</a:t>
            </a:r>
          </a:p>
          <a:p>
            <a:pPr/>
            <a:r>
              <a:rPr lang="en-US" sz="2880"/>
              <a:t>Power consumption is measured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 Server: 192.168.1.100 (VLAN 20)</a:t>
            </a:r>
          </a:p>
          <a:p>
            <a:pPr/>
            <a:r>
              <a:rPr lang="en-US"/>
              <a:t>Web Dashboard: https://bmsc.example.com/dashboard</a:t>
            </a:r>
            <a:br>
              <a:rPr lang="en-US"/>
            </a:br>
            <a:r>
              <a:rPr lang="en-US"/>
              <a:t>assistant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REST API via HTTPS. Payload is JSON, old format exports are XML and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When a chiller alarm occurs, the system automatically notifies the maintenance team via email, creates a work order, and escalates to the facility manager if the alarm is not confirmed within 30 minutes.</a:t>
            </a:r>
          </a:p>
          <a:p>
            <a:pPr/>
            <a:r>
              <a:rPr lang="en-US"/>
              <a:t>Regular maintenance of the air handling unit filter is performed every three months.</a:t>
            </a:r>
          </a:p>
          <a:p>
            <a:pPr/>
            <a:r>
              <a:rPr lang="en-US"/>
              <a:t>The PLC and SCADA systems will continue to operate during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