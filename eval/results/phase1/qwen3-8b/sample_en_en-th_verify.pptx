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th-TH"/>
              <a:t>ระบบจัดการอาคารรวบรวมข้อมูลจากจุดมากกว่า 2,000 จุด และส่งการแจ้งเตือนไปยังผู้ปฏิบัติงานภายในเวลา 5 วินาที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th-TH"/>
              <a:t>การควบคุมการประหยัดพลังงานจะถูกเปิดใช้งานเฉพาะเมื่ออัตราการใช้พื้นที่ต่ำกว่า 30 เปอร์เซ็นต์ และอุณหภูมิอากาศภายนอกสูงกว่า 32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th-TH"/>
              <a:t>ภาพรวมแพลตฟอร์มอาคารอัจฉริยะ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th-TH"/>
              <a:t>ข้อเสนอแนะการผสานระบบจัดการอาคาร (BMS) — 15 มีนาคม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ระบบจัดการอาคาร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 sz="2880"/>
              <a:t>ระบบจัดการอาคาร </a:t>
            </a:r>
            <a:r>
              <a:rPr b="1" lang="th-TH" sz="2880"/>
              <a:t>Building Management System</a:t>
            </a:r>
            <a:r>
              <a:rPr lang="th-TH" sz="2880"/>
              <a:t> ใช้ในการตรวจสอบและควบคุมอุปกรณ์ระบบปรับอากาศ (HVAC).</a:t>
            </a:r>
          </a:p>
          <a:p>
            <a:pPr lvl="1"/>
            <a:r>
              <a:rPr lang="th-TH" sz="2520"/>
              <a:t>การควบคุมหน่วยจัดการอากาศ (Air Handling Unit: (AHU)) และหน่วยคอยล์ฟัน (Fan Coil Unit: (FCU))</a:t>
            </a:r>
          </a:p>
          <a:p>
            <a:pPr lvl="1"/>
            <a:r>
              <a:rPr lang="th-TH" sz="2520"/>
              <a:t>การควบคุมหน่วยปลายทางปริมาณอากาศเปลี่ยนแปลงได้ (Variable Air Volume: (VAV))</a:t>
            </a:r>
          </a:p>
          <a:p>
            <a:pPr/>
            <a:r>
              <a:rPr b="1" lang="th-TH" sz="2880">
                <a:solidFill>
                  <a:srgbClr val="C01F1F"/>
                </a:solidFill>
              </a:rPr>
              <a:t>การแจ้งเตือน</a:t>
            </a:r>
            <a:r>
              <a:rPr lang="th-TH" sz="2880"/>
              <a:t> และ </a:t>
            </a:r>
            <a:r>
              <a:rPr i="1" lang="th-TH" sz="2880"/>
              <a:t>การตรวจสอบสถานะอุปกรณ์</a:t>
            </a:r>
            <a:r>
              <a:rPr lang="th-TH" sz="2880"/>
              <a:t> ตลอดเวลา 24 ชั่วโมงต่อวัน</a:t>
            </a:r>
          </a:p>
          <a:p>
            <a:pPr/>
            <a:r>
              <a:rPr lang="th-TH" sz="2880"/>
              <a:t>ระบบจัดการพลังงาน (Energy Management System: (EMS)) สำหรับการวิเคราะห์การใช้พลังงาน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เซนเซอร์และอุปกรณ์ในสนาม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เซนเซอร์ตรวจจับการใช้พื้นที่</a:t>
            </a:r>
          </a:p>
          <a:p>
            <a:pPr/>
            <a:r>
              <a:rPr lang="th-TH"/>
              <a:t>เซนเซอร์ CO2 (0–2,000 ppm)</a:t>
            </a:r>
          </a:p>
          <a:p>
            <a:pPr/>
            <a:r>
              <a:rPr lang="th-TH"/>
              <a:t>เซนเซอร์อุณหภูมิ: ความแม่นยำ ±0.2 °C</a:t>
            </a:r>
          </a:p>
          <a:p>
            <a:pPr/>
            <a:r>
              <a:rPr lang="th-TH"/>
              <a:t>ความชื้น: 30–70 %RH</a:t>
            </a:r>
          </a:p>
          <a:p>
            <a:pPr/>
            <a:r>
              <a:rPr lang="th-TH"/>
              <a:t>คอนโทรลเลอร์แบบ </a:t>
            </a:r>
            <a:r>
              <a:rPr b="1" lang="th-TH"/>
              <a:t>FX-PCG2611-0</a:t>
            </a:r>
            <a:r>
              <a:rPr lang="th-TH"/>
              <a:t> รุ่นเฟิร์มแวร์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สถาปัตยกรรมระบบ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th-TH"/>
                <a:t>อุปกรณ์ปลายทาง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th-TH"/>
                <a:t>เกตเวย์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th-TH"/>
                <a:t>แพลตฟอร์มคลาวด์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th-TH"/>
                <a:t>แดชบอร์ด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h-TH"/>
              <a:t>อุปกรณ์ควบคุมในพื้นที่ สามารถสื่อสารผ่าน BACnet/IP และ Modbus TCP; เกตเวย์ เผยแพร่ข้อมูลการวัดระยะไกลไปยัง แพลตฟอร์มคลาวด์ ผ่าน MQTT ที่ใช้ TLS (พอร์ต 8883)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การเปรียบเทียบโปรโตคอล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โปรโตคอล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การขนส่ง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การใช้งานทั่วไป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พอร์ตเริ่มต้น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คอนโทรลเลอร์ระบบปรับอากาศ (HVAC)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มิเตอร์พลังงาน, ระบบทำความเย็น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การส่งข้อมูล IoT ไปยังคลาวด์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คู่สาย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ระบบไฟฟ้าและม่าน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ประสิทธิภาพพลังงานและการตอบสนองความต้องการพลังงาน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ความต้องการสูงลดลง 18% ในฤดูร้อนปี 2025</a:t>
            </a:r>
          </a:p>
          <a:p>
            <a:pPr/>
            <a:r>
              <a:rPr lang="th-TH"/>
              <a:t>การใช้พลังงาน: 1,250 MWh/ปี → 1,020 MWh/ปี</a:t>
            </a:r>
          </a:p>
          <a:p>
            <a:pPr/>
            <a:r>
              <a:rPr b="1" lang="th-TH"/>
              <a:t>การตอบสนองความต้องการพลังงาน</a:t>
            </a:r>
            <a:r>
              <a:rPr lang="th-TH"/>
              <a:t> ได้รับจากผู้ให้บริการพลังงานผ่าน </a:t>
            </a:r>
            <a:r>
              <a:rPr b="1" lang="th-TH">
                <a:solidFill>
                  <a:srgbClr val="1F4E9A"/>
                </a:solidFill>
              </a:rPr>
              <a:t>OpenADR 2.0b</a:t>
            </a:r>
          </a:p>
          <a:p>
            <a:pPr/>
            <a:r>
              <a:rPr lang="th-TH"/>
              <a:t>การปรับค่าตั้งค่า: ปรับอุณหภูมิการระบายความร้อนจาก 24 °C เป็น 26 °C ในช่วงเวลาความต้องการสูง</a:t>
            </a:r>
          </a:p>
          <a:p>
            <a:pPr/>
            <a:r>
              <a:rPr lang="th-TH"/>
              <a:t>การใช้พลังงานถูกวัดทุก 15 นาที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เครือข่ายและการเข้าถึง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เซิร์ฟเวอร์ BMS: 192.168.1.100 (VLAN 20)</a:t>
            </a:r>
          </a:p>
          <a:p>
            <a:pPr/>
            <a:r>
              <a:rPr lang="th-TH"/>
              <a:t>แดชบอร์ดเว็บ: https://bms.example.com/dashboard</a:t>
            </a:r>
          </a:p>
          <a:p>
            <a:pPr/>
            <a:r>
              <a:rPr lang="th-TH"/>
              <a:t>การสนับสนุน: support@example.com</a:t>
            </a:r>
          </a:p>
          <a:p>
            <a:pPr/>
            <a:r>
              <a:rPr lang="th-TH"/>
              <a:t>ไฟล์การตั้งค่า: C:\Program Files\BMS\config\points.json</a:t>
            </a:r>
          </a:p>
          <a:p>
            <a:pPr/>
            <a:r>
              <a:rPr lang="th-TH"/>
              <a:t>API REST ผ่าน HTTPS; ข้อมูลในรูปแบบ JSON, การส่งออกแบบเก่าในรูปแบบ XML และ 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การดำเนินงานและการบำรุงรักษา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เมื่อเกิดการแจ้งเตือนของเครื่องเย็น ระบบจะแจ้งเตือนทีมบำรุงรักษาโดยอีเมล และสร้างใบงานบำรุงรักษา หากไม่มีการยืนยันการแจ้งเตือนภายใน 30 นาที ระบบจะส่งไปยังผู้จัดการทรัพย์สิน</a:t>
            </a:r>
          </a:p>
          <a:p>
            <a:pPr/>
            <a:r>
              <a:rPr lang="th-TH"/>
              <a:t>การบำรุงรักษาตามกำหนดของตัวกรอง AHU จะดำเนินการทุก 3 เดือน</a:t>
            </a:r>
          </a:p>
          <a:p>
            <a:pPr/>
            <a:r>
              <a:rPr lang="th-TH"/>
              <a:t>ระบบ PLC และ SCADA จะยังคงให้บริการในช่วงการย้ายข้อมูล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sz="4180"/>
              <a:t>แผนการพัฒนาระบบอัตโนมัติของอาคาร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ขั้นตอนที่ 1 (ไตรมาสที่ 2 ปี 2026): การอัปเกรดระบบอัตโนมัติของอาคาร</a:t>
            </a:r>
          </a:p>
          <a:p>
            <a:pPr/>
            <a:r>
              <a:rPr lang="th-TH"/>
              <a:t>ขั้นตอนที่ 2 (ไตรมาสที่ 4 ปี 2026): เซ็นเซอร์ IoT และอุปกรณ์ปลายทาง</a:t>
            </a:r>
          </a:p>
          <a:p>
            <a:pPr/>
            <a:r>
              <a:rPr lang="th-TH"/>
              <a:t>ขั้นตอนที่ 3 (ปี 2027): การตรวจจับและวินิจฉัยข้อผิดพลาดโดยใช้ AI (FDD)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