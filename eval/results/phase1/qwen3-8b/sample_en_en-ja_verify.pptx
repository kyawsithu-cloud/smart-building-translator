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10"/>
    <p:sldId id="259" r:id="rId11"/>
    <p:sldId id="260" r:id="rId12"/>
    <p:sldId id="261" r:id="rId13"/>
    <p:sldId id="262" r:id="rId14"/>
    <p:sldId id="263" r:id="rId15"/>
    <p:sldId id="264" r:id="rId16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notesMaster" Target="notesMasters/notesMaster1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lang="ja-JP">
                <a:ea typeface="Meiryo UI"/>
              </a:rPr>
              <a:t>ビル管理システムは、2,000ポイント以上のデータを収集し、5秒以内にオペレーターに警報を送信します。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lang="ja-JP">
                <a:ea typeface="Meiryo UI"/>
              </a:rPr>
              <a:t>外気温度が32℃以上でかつ在室率が30%未満の場合に限り、省エネ制御が有効になります。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/>
            <a:r>
              <a:rPr lang="ja-JP">
                <a:ea typeface="Meiryo UI"/>
              </a:rPr>
              <a:t>スマートビルディングプラットフォーム概要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/>
            <a:r>
              <a:rPr lang="ja-JP">
                <a:ea typeface="Meiryo UI"/>
              </a:rPr>
              <a:t>ビル管理システム（BMS）統合提案 — 2026年3月15日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/>
            <a:r>
              <a:rPr lang="ja-JP">
                <a:ea typeface="Meiryo UI"/>
              </a:rPr>
              <a:t>ビル管理システム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b="1" lang="ja-JP">
                <a:ea typeface="Meiryo UI"/>
              </a:rPr>
              <a:t>ビル管理システム</a:t>
            </a:r>
            <a:r>
              <a:rPr lang="ja-JP">
                <a:ea typeface="Meiryo UI"/>
              </a:rPr>
              <a:t> はHVAC機器を監視および制御します。</a:t>
            </a:r>
          </a:p>
          <a:p>
            <a:pPr lvl="1"/>
            <a:r>
              <a:rPr lang="ja-JP">
                <a:ea typeface="Meiryo UI"/>
              </a:rPr>
              <a:t>空調機（AHU）およびファンコイルユニット（FCU）の制御</a:t>
            </a:r>
          </a:p>
          <a:p>
            <a:pPr lvl="1"/>
            <a:r>
              <a:rPr lang="ja-JP">
                <a:ea typeface="Meiryo UI"/>
              </a:rPr>
              <a:t>可変風量（VAV）ターミナル制御</a:t>
            </a:r>
          </a:p>
          <a:p>
            <a:pPr/>
            <a:r>
              <a:rPr b="1" lang="ja-JP">
                <a:solidFill>
                  <a:srgbClr val="C01F1F"/>
                </a:solidFill>
                <a:ea typeface="Meiryo UI"/>
              </a:rPr>
              <a:t>警報</a:t>
            </a:r>
            <a:r>
              <a:rPr lang="ja-JP">
                <a:ea typeface="Meiryo UI"/>
              </a:rPr>
              <a:t>および</a:t>
            </a:r>
            <a:r>
              <a:rPr i="1" lang="ja-JP">
                <a:ea typeface="Meiryo UI"/>
              </a:rPr>
              <a:t>機器状態</a:t>
            </a:r>
            <a:r>
              <a:rPr lang="ja-JP">
                <a:ea typeface="Meiryo UI"/>
              </a:rPr>
              <a:t>の24時間体制での監視</a:t>
            </a:r>
          </a:p>
          <a:p>
            <a:pPr/>
            <a:r>
              <a:rPr lang="ja-JP">
                <a:ea typeface="Meiryo UI"/>
              </a:rPr>
              <a:t>エネルギー消費量分析用エネルギー管理システム（EMS）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/>
            <a:r>
              <a:rPr lang="ja-JP">
                <a:ea typeface="Meiryo UI"/>
              </a:rPr>
              <a:t>センサーおよびフィールド機器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lang="ja-JP">
                <a:ea typeface="Meiryo UI"/>
              </a:rPr>
              <a:t>在室センサー</a:t>
            </a:r>
          </a:p>
          <a:p>
            <a:pPr/>
            <a:r>
              <a:rPr lang="ja-JP">
                <a:ea typeface="Meiryo UI"/>
              </a:rPr>
              <a:t>CO2センサー（0–2,000 ppm）</a:t>
            </a:r>
          </a:p>
          <a:p>
            <a:pPr/>
            <a:r>
              <a:rPr lang="ja-JP">
                <a:ea typeface="Meiryo UI"/>
              </a:rPr>
              <a:t>温度センサー：±0.2℃の精度</a:t>
            </a:r>
          </a:p>
          <a:p>
            <a:pPr/>
            <a:r>
              <a:rPr lang="ja-JP">
                <a:ea typeface="Meiryo UI"/>
              </a:rPr>
              <a:t>湿度：30–70 %RH</a:t>
            </a:r>
          </a:p>
          <a:p>
            <a:pPr/>
            <a:r>
              <a:rPr lang="ja-JP">
                <a:ea typeface="Meiryo UI"/>
              </a:rPr>
              <a:t>モデル </a:t>
            </a:r>
            <a:r>
              <a:rPr b="1" lang="ja-JP">
                <a:ea typeface="Meiryo UI"/>
              </a:rPr>
              <a:t>FX-PCG2611-0</a:t>
            </a:r>
            <a:r>
              <a:rPr lang="ja-JP">
                <a:ea typeface="Meiryo UI"/>
              </a:rPr>
              <a:t> コントローラー、ファームウェア v3.2.1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/>
            <a:r>
              <a:rPr lang="ja-JP">
                <a:ea typeface="Meiryo UI"/>
              </a:rPr>
              <a:t>システムアーキテクチャ</a:t>
            </a:r>
          </a:p>
        </p:txBody>
      </p:sp>
      <p:grpSp>
        <p:nvGrpSpPr>
          <p:cNvPr id="3" name="Group 2"/>
          <p:cNvGrpSpPr/>
          <p:nvPr/>
        </p:nvGrpSpPr>
        <p:grpSpPr>
          <a:xfrm>
            <a:off x="365760" y="2011680"/>
            <a:ext cx="8366760" cy="1097280"/>
            <a:chOff x="365760" y="2011680"/>
            <a:chExt cx="8366760" cy="1097280"/>
          </a:xfrm>
        </p:grpSpPr>
        <p:sp>
          <p:nvSpPr>
            <p:cNvPr id="4" name="Rectangle 3"/>
            <p:cNvSpPr/>
            <p:nvPr/>
          </p:nvSpPr>
          <p:spPr>
            <a:xfrm>
              <a:off x="365760" y="2011680"/>
              <a:ext cx="1920240" cy="1097280"/>
            </a:xfrm>
            <a:prstGeom prst="rect">
              <a:avLst/>
            </a:prstGeom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sz="1600" lang="ja-JP">
                  <a:ea typeface="Meiryo UI"/>
                </a:rPr>
                <a:t>エッジデバイス</a:t>
              </a:r>
            </a:p>
          </p:txBody>
        </p:sp>
        <p:sp>
          <p:nvSpPr>
            <p:cNvPr id="5" name="Rectangle 4"/>
            <p:cNvSpPr/>
            <p:nvPr/>
          </p:nvSpPr>
          <p:spPr>
            <a:xfrm>
              <a:off x="2514600" y="2011680"/>
              <a:ext cx="1920240" cy="1097280"/>
            </a:xfrm>
            <a:prstGeom prst="rect">
              <a:avLst/>
            </a:prstGeom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sz="1600" lang="ja-JP">
                  <a:ea typeface="Meiryo UI"/>
                </a:rPr>
                <a:t>ゲートウェイ</a:t>
              </a:r>
            </a:p>
          </p:txBody>
        </p:sp>
        <p:sp>
          <p:nvSpPr>
            <p:cNvPr id="6" name="Rectangle 5"/>
            <p:cNvSpPr/>
            <p:nvPr/>
          </p:nvSpPr>
          <p:spPr>
            <a:xfrm>
              <a:off x="4663440" y="2011680"/>
              <a:ext cx="1920240" cy="1097280"/>
            </a:xfrm>
            <a:prstGeom prst="rect">
              <a:avLst/>
            </a:prstGeom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sz="1600" lang="ja-JP">
                  <a:ea typeface="Meiryo UI"/>
                </a:rPr>
                <a:t>クラウドプラットフォーム</a:t>
              </a:r>
            </a:p>
          </p:txBody>
        </p:sp>
        <p:sp>
          <p:nvSpPr>
            <p:cNvPr id="7" name="Rectangle 6"/>
            <p:cNvSpPr/>
            <p:nvPr/>
          </p:nvSpPr>
          <p:spPr>
            <a:xfrm>
              <a:off x="6812280" y="2011680"/>
              <a:ext cx="1920240" cy="1097280"/>
            </a:xfrm>
            <a:prstGeom prst="rect">
              <a:avLst/>
            </a:prstGeom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sz="1600" lang="ja-JP">
                  <a:ea typeface="Meiryo UI"/>
                </a:rPr>
                <a:t>ダッシュボード</a:t>
              </a:r>
            </a:p>
          </p:txBody>
        </p:sp>
      </p:grpSp>
      <p:sp>
        <p:nvSpPr>
          <p:cNvPr id="8" name="TextBox 7"/>
          <p:cNvSpPr txBox="1"/>
          <p:nvPr/>
        </p:nvSpPr>
        <p:spPr>
          <a:xfrm>
            <a:off x="457200" y="3840480"/>
            <a:ext cx="8229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lang="ja-JP">
                <a:ea typeface="Meiryo UI"/>
              </a:rPr>
              <a:t>フィールドコントローラーはBACnet/IPおよびModbus TCPを介して通信し、ゲートウェイはTLS（ポート8883）を介してMQTTを用いてクラウドプラットフォームにテレメトリを公開します。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/>
            <a:r>
              <a:rPr lang="ja-JP">
                <a:ea typeface="Meiryo UI"/>
              </a:rPr>
              <a:t>プロトコル比較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463040"/>
          <a:ext cx="8229600" cy="3657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57400"/>
                <a:gridCol w="2057400"/>
                <a:gridCol w="2057400"/>
                <a:gridCol w="2057400"/>
              </a:tblGrid>
              <a:tr h="731520">
                <a:tc>
                  <a:txBody>
                    <a:bodyPr/>
                    <a:lstStyle/>
                    <a:p>
                      <a:r>
                        <a:rPr lang="ja-JP">
                          <a:ea typeface="Meiryo UI"/>
                        </a:rPr>
                        <a:t>プロトコル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ja-JP">
                          <a:ea typeface="Meiryo UI"/>
                        </a:rPr>
                        <a:t>トランスポート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ja-JP">
                          <a:ea typeface="Meiryo UI"/>
                        </a:rPr>
                        <a:t>典型的な用途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ja-JP">
                          <a:ea typeface="Meiryo UI"/>
                        </a:rPr>
                        <a:t>デフォルトポート</a:t>
                      </a:r>
                    </a:p>
                  </a:txBody>
                  <a:tcPr/>
                </a:tc>
              </a:tr>
              <a:tr h="731520">
                <a:tc>
                  <a:txBody>
                    <a:bodyPr/>
                    <a:lstStyle/>
                    <a:p>
                      <a:r>
                        <a:rPr lang="ja-JP">
                          <a:ea typeface="Meiryo UI"/>
                        </a:rPr>
                        <a:t>BACnet/IP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ja-JP">
                          <a:ea typeface="Meiryo UI"/>
                        </a:rPr>
                        <a:t>UDP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ja-JP">
                          <a:ea typeface="Meiryo UI"/>
                        </a:rPr>
                        <a:t>HVAC コントローラー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ja-JP">
                          <a:ea typeface="Meiryo UI"/>
                        </a:rPr>
                        <a:t>47808</a:t>
                      </a:r>
                    </a:p>
                  </a:txBody>
                  <a:tcPr/>
                </a:tc>
              </a:tr>
              <a:tr h="731520">
                <a:tc>
                  <a:txBody>
                    <a:bodyPr/>
                    <a:lstStyle/>
                    <a:p>
                      <a:r>
                        <a:rPr lang="ja-JP">
                          <a:ea typeface="Meiryo UI"/>
                        </a:rPr>
                        <a:t>Modbus TCP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ja-JP">
                          <a:ea typeface="Meiryo UI"/>
                        </a:rPr>
                        <a:t>TCP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ja-JP">
                          <a:ea typeface="Meiryo UI"/>
                        </a:rPr>
                        <a:t>電力メーター、冷凍機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ja-JP">
                          <a:ea typeface="Meiryo UI"/>
                        </a:rPr>
                        <a:t>502</a:t>
                      </a:r>
                    </a:p>
                  </a:txBody>
                  <a:tcPr/>
                </a:tc>
              </a:tr>
              <a:tr h="731520">
                <a:tc>
                  <a:txBody>
                    <a:bodyPr/>
                    <a:lstStyle/>
                    <a:p>
                      <a:r>
                        <a:rPr lang="ja-JP">
                          <a:ea typeface="Meiryo UI"/>
                        </a:rPr>
                        <a:t>MQTT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ja-JP">
                          <a:ea typeface="Meiryo UI"/>
                        </a:rPr>
                        <a:t>TCP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ja-JP">
                          <a:ea typeface="Meiryo UI"/>
                        </a:rPr>
                        <a:t>IoT テレメトリーデータをクラウドへ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ja-JP">
                          <a:ea typeface="Meiryo UI"/>
                        </a:rPr>
                        <a:t>1883 / 8883</a:t>
                      </a:r>
                    </a:p>
                  </a:txBody>
                  <a:tcPr/>
                </a:tc>
              </a:tr>
              <a:tr h="731520">
                <a:tc>
                  <a:txBody>
                    <a:bodyPr/>
                    <a:lstStyle/>
                    <a:p>
                      <a:r>
                        <a:rPr lang="ja-JP">
                          <a:ea typeface="Meiryo UI"/>
                        </a:rPr>
                        <a:t>KNX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ja-JP">
                          <a:ea typeface="Meiryo UI"/>
                        </a:rPr>
                        <a:t>ツイストペア / IP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ja-JP">
                          <a:ea typeface="Meiryo UI"/>
                        </a:rPr>
                        <a:t>照明およびカーテン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ja-JP">
                          <a:ea typeface="Meiryo UI"/>
                        </a:rPr>
                        <a:t>3671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/>
            <a:r>
              <a:rPr lang="ja-JP">
                <a:ea typeface="Meiryo UI"/>
              </a:rPr>
              <a:t>エネルギー効率とデマンドレスポンス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lang="ja-JP">
                <a:ea typeface="Meiryo UI"/>
              </a:rPr>
              <a:t>2025年夏のピーク需要は18%削減</a:t>
            </a:r>
          </a:p>
          <a:p>
            <a:pPr/>
            <a:r>
              <a:rPr lang="ja-JP">
                <a:ea typeface="Meiryo UI"/>
              </a:rPr>
              <a:t>エネルギー消費量：1,250 MWh/年 → 1,020 MWh/年</a:t>
            </a:r>
          </a:p>
          <a:p>
            <a:pPr/>
            <a:r>
              <a:rPr b="1" lang="ja-JP">
                <a:ea typeface="Meiryo UI"/>
              </a:rPr>
              <a:t>デマンドレスポンス</a:t>
            </a:r>
            <a:r>
              <a:rPr lang="ja-JP">
                <a:ea typeface="Meiryo UI"/>
              </a:rPr>
              <a:t>信号は、</a:t>
            </a:r>
            <a:r>
              <a:rPr b="1" lang="ja-JP">
                <a:solidFill>
                  <a:srgbClr val="1F4E9A"/>
                </a:solidFill>
                <a:ea typeface="Meiryo UI"/>
              </a:rPr>
              <a:t>OpenADR 2.0b</a:t>
            </a:r>
            <a:r>
              <a:rPr lang="ja-JP">
                <a:ea typeface="Meiryo UI"/>
              </a:rPr>
              <a:t>経由で電力会社から受信</a:t>
            </a:r>
          </a:p>
          <a:p>
            <a:pPr/>
            <a:r>
              <a:rPr lang="ja-JP">
                <a:ea typeface="Meiryo UI"/>
              </a:rPr>
              <a:t>設定値調整：ピーク時間帯において冷房設定値を24℃から26℃に上げる</a:t>
            </a:r>
          </a:p>
          <a:p>
            <a:pPr/>
            <a:r>
              <a:rPr lang="ja-JP">
                <a:ea typeface="Meiryo UI"/>
              </a:rPr>
              <a:t>消費電力は15分ごとに測定される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/>
            <a:r>
              <a:rPr lang="ja-JP">
                <a:ea typeface="Meiryo UI"/>
              </a:rPr>
              <a:t>ネットワークとアクセス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lang="ja-JP">
                <a:ea typeface="Meiryo UI"/>
              </a:rPr>
              <a:t>BMSサーバー: 192.168.1.100 (VLAN 20)</a:t>
            </a:r>
          </a:p>
          <a:p>
            <a:pPr/>
            <a:r>
              <a:rPr lang="ja-JP">
                <a:ea typeface="Meiryo UI"/>
              </a:rPr>
              <a:t>Webダッシュボード: https://bms.example.com/dashboard</a:t>
            </a:r>
          </a:p>
          <a:p>
            <a:pPr/>
            <a:r>
              <a:rPr lang="ja-JP">
                <a:ea typeface="Meiryo UI"/>
              </a:rPr>
              <a:t>サポート: support@example.com</a:t>
            </a:r>
          </a:p>
          <a:p>
            <a:pPr/>
            <a:r>
              <a:rPr lang="ja-JP">
                <a:ea typeface="Meiryo UI"/>
              </a:rPr>
              <a:t>設定ファイル: C:\Program Files\BMS\config\points.json</a:t>
            </a:r>
          </a:p>
          <a:p>
            <a:pPr/>
            <a:r>
              <a:rPr lang="ja-JP">
                <a:ea typeface="Meiryo UI"/>
              </a:rPr>
              <a:t>HTTPSを介したREST API; ペイロードはJSON、従来のエクスポートはXMLおよびSQL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/>
            <a:r>
              <a:rPr lang="ja-JP">
                <a:ea typeface="Meiryo UI"/>
              </a:rPr>
              <a:t>運用・保守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lang="ja-JP">
                <a:ea typeface="Meiryo UI"/>
              </a:rPr>
              <a:t>冷凍機の警報が発生した場合、システムは自動的にメールで保守チームに通知し、作業指示を作成します。30分以内に警報が確認されない場合、その警報は施設管理者に昇格されます。</a:t>
            </a:r>
          </a:p>
          <a:p>
            <a:pPr/>
            <a:r>
              <a:rPr lang="ja-JP">
                <a:ea typeface="Meiryo UI"/>
              </a:rPr>
              <a:t>AHUフィルターの定期保守は毎3か月行われます。</a:t>
            </a:r>
          </a:p>
          <a:p>
            <a:pPr/>
            <a:r>
              <a:rPr lang="ja-JP">
                <a:ea typeface="Meiryo UI"/>
              </a:rPr>
              <a:t>PLCおよびSCADAシステムは移行期間中も稼働します。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/>
            <a:r>
              <a:rPr lang="ja-JP" sz="3520">
                <a:ea typeface="Meiryo UI"/>
              </a:rPr>
              <a:t>ビルオートメーションのロードマップ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lang="ja-JP">
                <a:ea typeface="Meiryo UI"/>
              </a:rPr>
              <a:t>フェーズ1（2026年Q2）：ビルオートメーションシステムのアップグレード</a:t>
            </a:r>
          </a:p>
          <a:p>
            <a:pPr/>
            <a:r>
              <a:rPr lang="ja-JP">
                <a:ea typeface="Meiryo UI"/>
              </a:rPr>
              <a:t>フェーズ2（2026年Q4）：IoTセンサーおよびエッジデバイス</a:t>
            </a:r>
          </a:p>
          <a:p>
            <a:pPr/>
            <a:r>
              <a:rPr lang="ja-JP">
                <a:ea typeface="Meiryo UI"/>
              </a:rPr>
              <a:t>フェーズ3（2027年）：AIを活用した故障検出および診断（FDD）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