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建筑管理系统从超过2000个点收集数据，并在5秒内将警报发送给操作员。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节能控制仅在占用率低于30%且室外空气温度高于32°C时启用。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zh-CN"/>
              <a:t>智能建筑平台概览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zh-CN"/>
              <a:t>建筑管理系统 (BMS) 集成提案 — 2026年3月15日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/>
              <a:t>建筑管理系统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zh-CN"/>
              <a:t>楼宇管理系统 </a:t>
            </a:r>
            <a:r>
              <a:rPr b="1" lang="zh-CN"/>
              <a:t>Building Management System</a:t>
            </a:r>
            <a:r>
              <a:rPr lang="zh-CN"/>
              <a:t> 监控并控制 HVAC 设备。</a:t>
            </a:r>
          </a:p>
          <a:p>
            <a:pPr lvl="1"/>
            <a:r>
              <a:rPr lang="zh-CN"/>
              <a:t>空气处理单元 (AHU) 和风机盘管单元 (FCU) 控制</a:t>
            </a:r>
          </a:p>
          <a:p>
            <a:pPr lvl="1"/>
            <a:r>
              <a:rPr lang="zh-CN"/>
              <a:t>变风量 (VAV) 风口控制</a:t>
            </a:r>
          </a:p>
          <a:p>
            <a:pPr/>
            <a:r>
              <a:rPr b="1" lang="zh-CN">
                <a:solidFill>
                  <a:srgbClr val="C01F1F"/>
                </a:solidFill>
              </a:rPr>
              <a:t>报警</a:t>
            </a:r>
            <a:r>
              <a:rPr lang="zh-CN"/>
              <a:t> 和 </a:t>
            </a:r>
            <a:r>
              <a:rPr i="1" lang="zh-CN"/>
              <a:t>设备状态</a:t>
            </a:r>
            <a:r>
              <a:rPr lang="zh-CN"/>
              <a:t> 监控 24/7</a:t>
            </a:r>
          </a:p>
          <a:p>
            <a:pPr/>
            <a:r>
              <a:rPr lang="zh-CN"/>
              <a:t>能源管理系统 (EMS) 用于能耗分析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/>
              <a:t>传感器和现场设备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zh-CN"/>
              <a:t>占用传感器</a:t>
            </a:r>
          </a:p>
          <a:p>
            <a:pPr/>
            <a:r>
              <a:rPr lang="zh-CN"/>
              <a:t>CO2传感器（0–2,000 ppm）</a:t>
            </a:r>
          </a:p>
          <a:p>
            <a:pPr/>
            <a:r>
              <a:rPr lang="zh-CN"/>
              <a:t>温度传感器：±0.2 °C精度</a:t>
            </a:r>
          </a:p>
          <a:p>
            <a:pPr/>
            <a:r>
              <a:rPr lang="zh-CN"/>
              <a:t>湿度：30–70 %RH</a:t>
            </a:r>
          </a:p>
          <a:p>
            <a:pPr/>
            <a:r>
              <a:rPr lang="zh-CN"/>
              <a:t>型号 </a:t>
            </a:r>
            <a:r>
              <a:rPr b="1" lang="zh-CN"/>
              <a:t>FX-PCG2611-0</a:t>
            </a:r>
            <a:r>
              <a:rPr lang="zh-CN"/>
              <a:t> 控制器，固件版本 v3.2.1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/>
              <a:t>系统架构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65760" y="2011680"/>
            <a:ext cx="8366760" cy="1097280"/>
            <a:chOff x="365760" y="2011680"/>
            <a:chExt cx="8366760" cy="1097280"/>
          </a:xfrm>
        </p:grpSpPr>
        <p:sp>
          <p:nvSpPr>
            <p:cNvPr id="4" name="Rectangle 3"/>
            <p:cNvSpPr/>
            <p:nvPr/>
          </p:nvSpPr>
          <p:spPr>
            <a:xfrm>
              <a:off x="36576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zh-CN"/>
                <a:t>边缘设备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251460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zh-CN"/>
                <a:t>网关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466344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zh-CN"/>
                <a:t>云平台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81228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zh-CN"/>
                <a:t>仪表盘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lang="zh-CN"/>
              <a:t>现场控制器通过 BACnet/IP 和 Modbus TCP 进行通信；网关通过 TLS（端口 8883）上的 MQTT 将遥测数据发布到云平台。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/>
              <a:t>协议对比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31520">
                <a:tc>
                  <a:txBody>
                    <a:bodyPr/>
                    <a:lstStyle/>
                    <a:p>
                      <a:r>
                        <a:rPr lang="zh-CN"/>
                        <a:t>协议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/>
                        <a:t>传输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/>
                        <a:t>典型用途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/>
                        <a:t>默认端口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zh-CN"/>
                        <a:t>BACnet/IP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/>
                        <a:t>UDP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/>
                        <a:t>HVAC控制器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/>
                        <a:t>47808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zh-CN"/>
                        <a:t>Modbus 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/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/>
                        <a:t>电表、冷水机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/>
                        <a:t>502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zh-CN"/>
                        <a:t>MQTT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/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/>
                        <a:t>IoT 遥测 到云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/>
                        <a:t>1883 / 8883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zh-CN"/>
                        <a:t>KNX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/>
                        <a:t>双绞线 / 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/>
                        <a:t>照明和窗帘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/>
                        <a:t>3671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/>
              <a:t>节能与需求响应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zh-CN"/>
              <a:t>2025年夏季峰值需求降低18%</a:t>
            </a:r>
          </a:p>
          <a:p>
            <a:pPr/>
            <a:r>
              <a:rPr lang="zh-CN"/>
              <a:t>能耗：1,250 MWh/年 → 1,020 MWh/年</a:t>
            </a:r>
          </a:p>
          <a:p>
            <a:pPr/>
            <a:r>
              <a:rPr b="1" lang="zh-CN"/>
              <a:t>需求响应</a:t>
            </a:r>
            <a:r>
              <a:rPr lang="zh-CN"/>
              <a:t> 信号通过 </a:t>
            </a:r>
            <a:r>
              <a:rPr b="1" lang="zh-CN">
                <a:solidFill>
                  <a:srgbClr val="1F4E9A"/>
                </a:solidFill>
              </a:rPr>
              <a:t>OpenADR 2.0b</a:t>
            </a:r>
            <a:r>
              <a:rPr lang="zh-CN"/>
              <a:t> 从供电公司接收</a:t>
            </a:r>
          </a:p>
          <a:p>
            <a:pPr/>
            <a:r>
              <a:rPr lang="zh-CN"/>
              <a:t>设定值调整：高峰时段将制冷设定值从24 °C提高到26 °C</a:t>
            </a:r>
          </a:p>
          <a:p>
            <a:pPr/>
            <a:r>
              <a:rPr lang="zh-CN"/>
              <a:t>功率消耗每15分钟测量一次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/>
              <a:t>网络与访问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zh-CN"/>
              <a:t>BMS服务器: 192.168.1.100 (VLAN 20)</a:t>
            </a:r>
          </a:p>
          <a:p>
            <a:pPr/>
            <a:r>
              <a:rPr lang="zh-CN"/>
              <a:t>网络仪表盘: https://bms.example.com/dashboard</a:t>
            </a:r>
          </a:p>
          <a:p>
            <a:pPr/>
            <a:r>
              <a:rPr lang="zh-CN"/>
              <a:t>支持: support@example.com</a:t>
            </a:r>
          </a:p>
          <a:p>
            <a:pPr/>
            <a:r>
              <a:rPr lang="zh-CN"/>
              <a:t>配置文件: C:\Program Files\BMS\config\points.json</a:t>
            </a:r>
          </a:p>
          <a:p>
            <a:pPr/>
            <a:r>
              <a:rPr lang="zh-CN"/>
              <a:t>通过HTTPS的REST API；数据包为JSON格式，旧版导出为XML和SQL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/>
              <a:t>操作与维护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zh-CN"/>
              <a:t>当冷水机组报警发生时，系统会通过电子邮件自动通知维护团队并创建工作订单，如果报警在30分钟内未被确认，将升级至设施经理。</a:t>
            </a:r>
          </a:p>
          <a:p>
            <a:pPr/>
            <a:r>
              <a:rPr lang="zh-CN"/>
              <a:t>AHU滤清器的定期维护每3个月进行一次。</a:t>
            </a:r>
          </a:p>
          <a:p>
            <a:pPr/>
            <a:r>
              <a:rPr lang="zh-CN"/>
              <a:t>PLC和SCADA系统在迁移期间保持运行。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/>
              <a:t>建筑自动化路线图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zh-CN"/>
              <a:t>第一阶段（2026年第二季度）：建筑自动化系统升级</a:t>
            </a:r>
          </a:p>
          <a:p>
            <a:pPr/>
            <a:r>
              <a:rPr lang="zh-CN"/>
              <a:t>第二阶段（2026年第四季度）：IoT传感器和边缘设备</a:t>
            </a:r>
          </a:p>
          <a:p>
            <a:pPr/>
            <a:r>
              <a:rPr lang="zh-CN"/>
              <a:t>第三阶段（2027年）：基于人工智能的故障检测与诊断（FDD）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