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my-MM"/>
              <a:t>တိုးတက်စေသော အဆောက်အဦး စီမံခန့်ခွဲမှု စနစ်သည် ၅ စက္ကန့်အတွင်း အဆောက်အဦး အား ၂၀၀၀ ကျော် အချက်အလက်များကို စုဆောင်းပြီး အလုပ်သမားကို အသံ့အကြို အကြောင်းကို ပြောပြသည်။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my-MM"/>
              <a:t>အထူးအားသာခွင့်ပြုချက်များကို အိမ်တွင်းလေအပူချိန် ၃၂ ဒီဂရီစင်တမ်းထက် များပြားလွန်ပြီး အသုံးပြုသူများရှိမှုနှုန်း ၃၀ ရာခိုင်နှုန်းထက် နည်းပါးသောအခါမျှသာ အလုပ်လုပ်သည်။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my-MM" sz="3520"/>
              <a:t>စီးပွားရေးအဆင့်မြှင့်တင်ရေး ပလက်ဖောင်း အကြောင်းကို အကြမ်းဖျင်း သိရှိနိုင်ပါသည်။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my-MM" sz="3960"/>
              <a:t>ဆောက်လုပ်ရေး စီမံခန့်ခွဲမှု စနစ် (BMS) အပေါ် အဆိုပြုချက် — ၂၀၂၆ ခုနှစ်၊ မတ်လ ၁၅ ရက်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my-MM"/>
              <a:t>တိုးတက်စေသော စီမံခန့်ခွဲမှုစနစ်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my-MM" sz="3040"/>
              <a:t>အဆိုပါ </a:t>
            </a:r>
            <a:r>
              <a:rPr b="1" lang="my-MM" sz="3040"/>
              <a:t>တိုးတက်စေသော စီမံခန့်ခွဲမှုစနစ်</a:t>
            </a:r>
            <a:r>
              <a:rPr lang="my-MM" sz="3040"/>
              <a:t> သည် HVAC ကိရိယာများကို စောင့်ကြည့်ပြီး ထိန်းချုပ်ပေးသည်။</a:t>
            </a:r>
          </a:p>
          <a:p>
            <a:pPr lvl="1"/>
            <a:r>
              <a:rPr lang="my-MM" sz="2660"/>
              <a:t>လေကုန်းကားကိရိယာ (AHU) နှင့် ပိုက်ဆံကိရိယာ (FCU) ထိန်းချုပ်မှု</a:t>
            </a:r>
          </a:p>
          <a:p>
            <a:pPr lvl="1"/>
            <a:r>
              <a:rPr lang="my-MM" sz="2660"/>
              <a:t>အလွဲသုံးစွဲသော လေကုန်းကားကိရိယာ (VAV) အဆုံးအဖြတ်ထိန်းချုပ်မှု</a:t>
            </a:r>
          </a:p>
          <a:p>
            <a:pPr/>
            <a:r>
              <a:rPr b="1" lang="my-MM" sz="3040">
                <a:solidFill>
                  <a:srgbClr val="C01F1F"/>
                </a:solidFill>
              </a:rPr>
              <a:t>အသံ့အလိုအလျောက်အားလုံး</a:t>
            </a:r>
            <a:r>
              <a:rPr lang="my-MM" sz="3040"/>
              <a:t> နှင့် </a:t>
            </a:r>
            <a:r>
              <a:rPr i="1" lang="my-MM" sz="3040"/>
              <a:t>ကိရိယာ အခြေအနေ</a:t>
            </a:r>
            <a:r>
              <a:rPr lang="my-MM" sz="3040"/>
              <a:t> စောင့်ကြည့်မှု 24/7</a:t>
            </a:r>
          </a:p>
          <a:p>
            <a:pPr/>
            <a:r>
              <a:rPr lang="my-MM" sz="3040"/>
              <a:t>အားလုံးကို စီမံခန့်ခွဲမှုစနစ် (EMS) အား အားသုံးစွဲမှု အစီရင်ခံစာ အတွက် အသုံးပြုသည်။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my-MM" sz="3520"/>
              <a:t>စိတ်ကူးယဉ်ကိရိယာများနှင့် အမှုလုပ်ကိရိယာများ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my-MM"/>
              <a:t>အခန်းအသုံးပြုမှု စိတ်ကူးယဉ်ကိရိယာ</a:t>
            </a:r>
          </a:p>
          <a:p>
            <a:pPr/>
            <a:r>
              <a:rPr lang="my-MM"/>
              <a:t>CO2 စိတ်ကူးယဉ်ကိရိယာ (0–2,000 ppm)</a:t>
            </a:r>
          </a:p>
          <a:p>
            <a:pPr/>
            <a:r>
              <a:rPr lang="my-MM"/>
              <a:t>အပူချိန် စိတ်ကူးယဉ်ကိရိယာ: ±0.2 °C အမှန်တကယ်</a:t>
            </a:r>
          </a:p>
          <a:p>
            <a:pPr/>
            <a:r>
              <a:rPr lang="my-MM"/>
              <a:t>စိုထိုင်မှု: 30–70 %RH</a:t>
            </a:r>
          </a:p>
          <a:p>
            <a:pPr/>
            <a:r>
              <a:rPr lang="my-MM"/>
              <a:t>မှန်ပြား </a:t>
            </a:r>
            <a:r>
              <a:rPr b="1" lang="my-MM"/>
              <a:t>FX-PCG2611-0</a:t>
            </a:r>
            <a:r>
              <a:rPr lang="my-MM"/>
              <a:t> ထိန်းချုပ်မှုကိရိယာ၊ ဖိုင်များ v3.2.1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my-MM"/>
              <a:t>စနစ် အဆိုပါအားကိုးကား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65760" y="2011680"/>
            <a:ext cx="8366760" cy="1097280"/>
            <a:chOff x="365760" y="2011680"/>
            <a:chExt cx="8366760" cy="1097280"/>
          </a:xfrm>
        </p:grpSpPr>
        <p:sp>
          <p:nvSpPr>
            <p:cNvPr id="4" name="Rectangle 3"/>
            <p:cNvSpPr/>
            <p:nvPr/>
          </p:nvSpPr>
          <p:spPr>
            <a:xfrm>
              <a:off x="36576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/>
                <a:t>Edge device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251460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/>
                <a:t>Gateway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66344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/>
                <a:t>Cloud platform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81228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/>
                <a:t>Dashboard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Field controllers communicate over BACnet/IP and Modbus TCP; the gateway publishes telemetry to the cloud platform via MQTT over TLS (port 8883).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my-MM"/>
              <a:t>ပို့စ်ကိုယ်စားပြုချက်အကျုံးကျွံချက်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r>
                        <a:rPr lang="my-MM"/>
                        <a:t>ပို့စ်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y-MM"/>
                        <a:t>ပို့ဆောင်မှု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y-MM"/>
                        <a:t>အသုံးပြုမှုအများအပြား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y-MM"/>
                        <a:t>အမှုအရာအများအပြား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my-MM"/>
                        <a:t>BACnet/IP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y-MM"/>
                        <a:t>UDP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y-MM"/>
                        <a:t>HVAC ထိန်းချုပ်မှုကိရိယာများ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y-MM"/>
                        <a:t>47808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my-MM"/>
                        <a:t>Modbus 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y-MM"/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y-MM"/>
                        <a:t>အားအားကိုင်းရှိသော မီတာများ၊ အော်ပရောင်းများ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y-MM"/>
                        <a:t>502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my-MM"/>
                        <a:t>MQTT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y-MM"/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y-MM"/>
                        <a:t>IoT တိုင်းတာမှုကို မီးခိုးထဲသို့ ပို့ဆောင်ခြင်း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y-MM"/>
                        <a:t>1883 / 8883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my-MM"/>
                        <a:t>KNX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y-MM"/>
                        <a:t>ပို့စ်အမျိုးအစား / 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y-MM"/>
                        <a:t>မီးခိုးနှင့် အမှိုက်ပိုက်များ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y-MM"/>
                        <a:t>3671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my-MM" sz="3740"/>
              <a:t>အော်ဂဲနစ်အားကောင်းမွန်မှုနှင့် လိုအပ်နေသော အားလိုအပ်မှုအား ဖြည့်ဆည်းပေးခြင်း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my-MM" sz="3040"/>
              <a:t>နွေရာသီ ၂၀၂၅ တွင် အများအားဖြင့် အားလိုအပ်မှုကို ၁၈% ထိ လျှော့ချခဲ့သည်</a:t>
            </a:r>
          </a:p>
          <a:p>
            <a:pPr/>
            <a:r>
              <a:rPr lang="my-MM" sz="3040"/>
              <a:t>အားလိုအပ်မှု: ၁,၂၅၀ MWh/နှစ် → ၁,၀၂၀ MWh/နှစ်</a:t>
            </a:r>
          </a:p>
          <a:p>
            <a:pPr/>
            <a:r>
              <a:rPr b="1" lang="my-MM" sz="3040"/>
              <a:t>အားလိုအပ်မှုအား ဖြည့်ဆည်းပေးခြင်း</a:t>
            </a:r>
            <a:r>
              <a:rPr lang="my-MM" sz="3040"/>
              <a:t> အချက်အလက်များကို </a:t>
            </a:r>
            <a:r>
              <a:rPr b="1" lang="my-MM" sz="3040">
                <a:solidFill>
                  <a:srgbClr val="1F4E9A"/>
                </a:solidFill>
              </a:rPr>
              <a:t>OpenADR 2.0b</a:t>
            </a:r>
            <a:r>
              <a:rPr lang="my-MM" sz="3040"/>
              <a:t> ကို အသုံးပြု၍ စီမံခန့်ခွဲသည်</a:t>
            </a:r>
          </a:p>
          <a:p>
            <a:pPr/>
            <a:r>
              <a:rPr lang="my-MM" sz="3040"/>
              <a:t>အားလိုအပ်မှုကို ပြင်ဆင်ခြင်း: အများအားဖြင့် အားလိုအပ်မှုအချိန်များတွင် အအေးခံချက်ကို ၂၄ ဒီဂရီစင်တီဂရိတ်မှ ၂၆ ဒီဂရီစင်တီဂရိတ်အထိ တိုးမြှင့်ခဲ့သည်</a:t>
            </a:r>
          </a:p>
          <a:p>
            <a:pPr/>
            <a:r>
              <a:rPr lang="my-MM" sz="3040"/>
              <a:t>အားသုံးစွဲမှုကို ၁၅ မိနစ်တိုင်းတွင် တိုင်းတာသည်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my-MM"/>
              <a:t>နက်ရှိုင်းနှင့် ဝင်ရောက်ခွင့်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my-MM" sz="2880"/>
              <a:t>BMS စက်ရုံ: 192.168.1.100 (VLAN 20)</a:t>
            </a:r>
          </a:p>
          <a:p>
            <a:pPr/>
            <a:r>
              <a:rPr lang="my-MM" sz="2880"/>
              <a:t>ဝဘ် ဒေသန္တရားကြောင်း : https://bms.example.com/dashboard</a:t>
            </a:r>
          </a:p>
          <a:p>
            <a:pPr/>
            <a:r>
              <a:rPr lang="my-MM" sz="2880"/>
              <a:t>အထောက်အပံ့: support@example.com</a:t>
            </a:r>
          </a:p>
          <a:p>
            <a:pPr/>
            <a:r>
              <a:rPr lang="my-MM" sz="2880"/>
              <a:t>အဆိုပါ စာရင်းသွင်းချက်အမည်: C:\Program Files\BMS\config\points.json အဆိုပါ BMS အဆိုပါ စာရင်းသွင်းချက်အမည်: C:\Program Files\BMS\config\points.json</a:t>
            </a:r>
          </a:p>
          <a:p>
            <a:pPr/>
            <a:r>
              <a:rPr lang="my-MM" sz="2880"/>
              <a:t>REST API အောက်တိုင်း HTTPS ပေါ်တူဂို အသုံးပြုခြင်း၊ JSON တွင် payload များ ပါဝင်ခြင်း၊ အရင်က ထုတ်လုပ်ခဲ့သော အမှားများကို XML နှင့် SQL တွင် ထုတ်လုပ်ခြင်း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my-MM" sz="3520"/>
              <a:t>လုပ်ဆောင်ချက်များနှင့် ထိန်းသိမ်းထားမှုများ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my-MM" sz="2880"/>
              <a:t>စောင့်ကြည့်စက်အားလုံးတွင် အော်ဒါထွက်ပေါ်ပါက စနစ်သည် အော်ဒါကို အိမ်နှင့် အိမ်ရှင်များအား အီးမေးလ်ဖြင့် အသိပေးပြီး အလုပ်အမှုဆောင်ကို ဖန်တီးပေးပါသည်။ အော်ဒါကို ၃၀ မိနစ်အတွင်း အသိပေးခြင်းမရှိပါက အဆိုပါ အော်ဒါကို ဆောင်ရွက်ရေးအုပ်ချုပ်ရေးမှူးအား တိုးတက်စေပါသည်။</a:t>
            </a:r>
          </a:p>
          <a:p>
            <a:pPr/>
            <a:r>
              <a:rPr lang="my-MM" sz="2880"/>
              <a:t>AHU ပိုးများကို ၃လတာ တစ်ကြိမ် စီ စောင့်ကြည့်ထားသည်။</a:t>
            </a:r>
          </a:p>
          <a:p>
            <a:pPr/>
            <a:r>
              <a:rPr lang="my-MM" sz="2880"/>
              <a:t>PLC နှင့် SCADA စနစ်များသည် ပြောင်းလဲမှုကာလအတွင်း ဆက်လက်အလုပ်လုပ်နေသည်။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my-MM" sz="3520"/>
              <a:t>ဗာန်းအိမ်အလိုက်အလုပ်လုပ်မှု လမ်းကြောင်းစီမံခန့်ခွဲမှု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my-MM"/>
              <a:t>အဆင့် ၁ (၂၀၂၆ ခုနှစ် ဒီဇင်ဘာလအထိ) ဗာန်းအိမ်အလိုက်အလုပ်လုပ်မှုစနစ် တိုးတက်မှု</a:t>
            </a:r>
          </a:p>
          <a:p>
            <a:pPr/>
            <a:r>
              <a:rPr lang="my-MM"/>
              <a:t>အဆင့် ၂ (၂၀၂၆ ခုနှစ် အောက်တိုင်းလအထိ) IoT စမ်းသပ်မှုများနှင့် အလုပ်လုပ်မှုအကြား အဆုံးအဖြတ်ကိရိယာများ</a:t>
            </a:r>
          </a:p>
          <a:p>
            <a:pPr/>
            <a:r>
              <a:rPr lang="my-MM"/>
              <a:t>အဆင့် ၃ (၂၀၂၇ ခုနှစ်) AI အခြေခံ အဆိုးရွားမှု ရှာဖွေခြင်းနှင့် အကြံပြုချက်ပေးခြင်း (FDD)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