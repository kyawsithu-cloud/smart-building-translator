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During winter, free cooling helps reduce the operating time of chillers and the energy consumption of cooling water pumps.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results of Fault Detection and Diagnosis (FDD) are stored in the trend log for 13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Optimization of Central Heat Plant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3520"/>
              <a:t>Improvements to chilled water plants and HVAC systems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Overview of the chilled water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chilled water plant supplies chilled water to 12 air handling units.</a:t>
            </a:r>
          </a:p>
          <a:p>
            <a:pPr/>
            <a:r>
              <a:rPr lang="en-US"/>
              <a:t>The cooling water is cooled by 3 cooling towers.</a:t>
            </a:r>
          </a:p>
          <a:p>
            <a:pPr/>
            <a:r>
              <a:rPr lang="en-US"/>
              <a:t>Free cooling is utilized when the outdoor air temperature is below 10 °C.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Free Cooling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free cooling mode switches automatically.</a:t>
            </a:r>
          </a:p>
          <a:p>
            <a:pPr/>
            <a:r>
              <a:rPr lang="en-US"/>
              <a:t>Reduction achieved through free cooling: 210 MWh/year</a:t>
            </a:r>
          </a:p>
          <a:p>
            <a:pPr/>
            <a:r>
              <a:rPr lang="en-US"/>
              <a:t>Heat recovery from cooling water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Supply Air Temperature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supply air temperature is reset to a range of 13 °C to 18 °C.</a:t>
            </a:r>
          </a:p>
          <a:p>
            <a:pPr/>
            <a:r>
              <a:rPr lang="en-US"/>
              <a:t>The reset is based on zone load.</a:t>
            </a:r>
          </a:p>
          <a:p>
            <a:pPr/>
            <a:r>
              <a:rPr lang="en-US"/>
              <a:t>The supply air temperature setpoint is displayed on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4180"/>
              <a:t>Fault Detection and Diagnosis (FDD)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Fault Detection and Diagnosis (FDD) is executed every 15 minutes.</a:t>
            </a:r>
          </a:p>
          <a:p>
            <a:pPr/>
            <a:r>
              <a:rPr lang="en-US"/>
              <a:t>The FDD rules are used to check the chilled water plant and air handling units.</a:t>
            </a:r>
          </a:p>
          <a:p>
            <a:pPr/>
            <a:r>
              <a:rPr lang="en-US"/>
              <a:t>Typical faults: damper sticking, sensor drift, simultaneous operation of heating and cooling.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Demand-controlled ventilation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Demand-controlled ventilation uses a CO2 sensor in conference rooms.</a:t>
            </a:r>
          </a:p>
          <a:p>
            <a:pPr/>
            <a:r>
              <a:rPr lang="en-US"/>
              <a:t>Demand-controlled ventilation reduces fan energy consumption by 25%.</a:t>
            </a:r>
          </a:p>
          <a:p>
            <a:pPr/>
            <a:r>
              <a:rPr lang="en-US"/>
              <a:t>When ventilation volume is high, a heat recovery wheel operates.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Load Shutoff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Load Shutoff is initiated by demand response events.</a:t>
            </a:r>
          </a:p>
          <a:p>
            <a:pPr/>
            <a:r>
              <a:rPr lang="en-US"/>
              <a:t>Sequence of Load Shutoff: lighting first, followed by demand restriction on chillers</a:t>
            </a:r>
          </a:p>
          <a:p>
            <a:pPr/>
            <a:r>
              <a:rPr lang="en-US"/>
              <a:t>Verify the results of the Load Shutoff using data from the trend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point list contains 2,400 BACnet objects.</a:t>
            </a:r>
          </a:p>
          <a:p>
            <a:pPr/>
            <a:r>
              <a:rPr lang="en-US"/>
              <a:t>Trend log collection interval: 5 minutes</a:t>
            </a:r>
          </a:p>
          <a:p>
            <a:pPr/>
            <a:r>
              <a:rPr lang="en-US"/>
              <a:t>The point list is exported to the cloud platform weekly.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