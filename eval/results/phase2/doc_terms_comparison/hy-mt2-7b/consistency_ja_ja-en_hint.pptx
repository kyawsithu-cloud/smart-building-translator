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During winter, Free cooling is employed to reduce the operating time of chillers and the energy consumption of cooling water pumps.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results of Fault detection and diagnosis (FDD) are stored in the Trend log for 13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Optimization of Central Heat Plant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520"/>
              <a:t>Improvements to the Chilled water plant and HVAC systems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4180"/>
              <a:t>Overview of the Chilled water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Chilled water plant supplies chilled water to 12 air handling units.</a:t>
            </a:r>
          </a:p>
          <a:p>
            <a:pPr/>
            <a:r>
              <a:rPr lang="en-US"/>
              <a:t>The cooling water is cooled by 3 cooling towers.</a:t>
            </a:r>
          </a:p>
          <a:p>
            <a:pPr/>
            <a:r>
              <a:rPr lang="en-US"/>
              <a:t>Free cooling is utilized when the outdoor air temperature is below 10 °C.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Free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Free cooling mode switches automatically.</a:t>
            </a:r>
          </a:p>
          <a:p>
            <a:pPr/>
            <a:r>
              <a:rPr lang="en-US"/>
              <a:t>Reduction amount through Free cooling: 210 MWh/year</a:t>
            </a:r>
          </a:p>
          <a:p>
            <a:pPr/>
            <a:r>
              <a:rPr lang="en-US"/>
              <a:t>Heat recovery from cooling 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Supply air temperature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Supply air temperature should be reset to a value within the range of 13 °C to 18 °C.</a:t>
            </a:r>
          </a:p>
          <a:p>
            <a:pPr/>
            <a:r>
              <a:rPr lang="en-US"/>
              <a:t>The reset is based on zone load.</a:t>
            </a:r>
          </a:p>
          <a:p>
            <a:pPr/>
            <a:r>
              <a:rPr lang="en-US"/>
              <a:t>The Supply air temperature setpoint is displayed on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4180"/>
              <a:t>Fault detection and diagnosis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Fault detection and diagnosis (FDD) is executed every 15 minutes.</a:t>
            </a:r>
          </a:p>
          <a:p>
            <a:pPr/>
            <a:r>
              <a:rPr lang="en-US"/>
              <a:t>The Chilled water plant and air handling unit are checked using FDD rules.</a:t>
            </a:r>
          </a:p>
          <a:p>
            <a:pPr/>
            <a:r>
              <a:rPr lang="en-US"/>
              <a:t>Typical faults: Damper sticking, sensor drift, simultaneous operation of heating and cooling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Demand-controlled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Demand-controlled ventilation utilizes CO2 sensors in conference rooms.</a:t>
            </a:r>
          </a:p>
          <a:p>
            <a:pPr/>
            <a:r>
              <a:rPr lang="en-US"/>
              <a:t>Demand-controlled ventilation reduces the energy used by fans by 25%.</a:t>
            </a:r>
          </a:p>
          <a:p>
            <a:pPr/>
            <a:r>
              <a:rPr lang="en-US"/>
              <a:t>When the ventilation volume is high, the heat recovery wheel operates.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Load shedding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Load shedding is initiated by demand response events.</a:t>
            </a:r>
          </a:p>
          <a:p>
            <a:pPr/>
            <a:r>
              <a:rPr lang="en-US"/>
              <a:t>Order of Load shedding: lighting first, followed by demand restriction on chillers</a:t>
            </a:r>
          </a:p>
          <a:p>
            <a:pPr/>
            <a:r>
              <a:rPr lang="en-US"/>
              <a:t>Verify the results of Load shedding using data from the Trend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Point list contains 2,400 BACnet objects.</a:t>
            </a:r>
          </a:p>
          <a:p>
            <a:pPr/>
            <a:r>
              <a:rPr lang="en-US"/>
              <a:t>Trend log collection interval: 5 minutes</a:t>
            </a:r>
          </a:p>
          <a:p>
            <a:pPr/>
            <a:r>
              <a:rPr lang="en-US"/>
              <a:t>The Point list is exported to the cloud platform on a weekly basis.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