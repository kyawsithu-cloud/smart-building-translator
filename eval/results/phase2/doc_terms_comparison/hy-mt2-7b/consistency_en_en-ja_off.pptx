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ea typeface="Meiryo UI"/>
              </a:rPr>
              <a:t>冬季には、自然冷却方式により冷凍機の稼働時間や凝縮水ポンプの消費エネルギーが削減されます。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ea typeface="Meiryo UI"/>
              </a:rPr>
              <a:t>故障検出・診断（FDD）の結果は、トレンドログに13ヶ月間保存されます。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r>
              <a:rPr lang="ja-JP">
                <a:ea typeface="Meiryo UI"/>
              </a:rPr>
              <a:t>中央プラント最適化</a:t>
            </a:r>
          </a:p>
        </p:txBody>
      </p:sp>
      <p:sp>
        <p:nvSpPr>
          <p:cNvPr id="3" name="Subtitle 2"/>
          <p:cNvSpPr>
            <a:spLocks noGrp="1"/>
          </p:cNvSpPr>
          <p:nvPr>
            <p:ph type="subTitle" idx="1"/>
          </p:nvPr>
        </p:nvSpPr>
        <p:spPr/>
        <p:txBody>
          <a:bodyPr/>
          <a:lstStyle/>
          <a:p>
            <a:pPr/>
            <a:r>
              <a:rPr lang="ja-JP">
                <a:ea typeface="Meiryo UI"/>
              </a:rPr>
              <a:t>冷却水プラントおよび空気側改良 — 2026年</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lang="ja-JP">
                <a:ea typeface="Meiryo UI"/>
              </a:rPr>
              <a:t>冷却水プラント概要</a:t>
            </a:r>
          </a:p>
        </p:txBody>
      </p:sp>
      <p:sp>
        <p:nvSpPr>
          <p:cNvPr id="3" name="Content Placeholder 2"/>
          <p:cNvSpPr>
            <a:spLocks noGrp="1"/>
          </p:cNvSpPr>
          <p:nvPr>
            <p:ph idx="1"/>
          </p:nvPr>
        </p:nvSpPr>
        <p:spPr/>
        <p:txBody>
          <a:bodyPr/>
          <a:lstStyle/>
          <a:p>
            <a:pPr/>
            <a:r>
              <a:rPr lang="ja-JP">
                <a:ea typeface="Meiryo UI"/>
              </a:rPr>
              <a:t>この冷却水プラント概要では、12台の空調機に給水を供給しています。</a:t>
            </a:r>
          </a:p>
          <a:p>
            <a:pPr/>
            <a:r>
              <a:rPr lang="ja-JP">
                <a:ea typeface="Meiryo UI"/>
              </a:rPr>
              <a:t>凝縮水は3基の冷却塔によって冷却されます。</a:t>
            </a:r>
          </a:p>
          <a:p>
            <a:pPr/>
            <a:r>
              <a:rPr lang="ja-JP">
                <a:ea typeface="Meiryo UI"/>
              </a:rPr>
              <a:t>外気温度が10℃未満の場合は、自然冷却方式が採用されます。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lang="ja-JP">
                <a:ea typeface="Meiryo UI"/>
              </a:rPr>
              <a:t>自由冷却</a:t>
            </a:r>
          </a:p>
        </p:txBody>
      </p:sp>
      <p:sp>
        <p:nvSpPr>
          <p:cNvPr id="3" name="Content Placeholder 2"/>
          <p:cNvSpPr>
            <a:spLocks noGrp="1"/>
          </p:cNvSpPr>
          <p:nvPr>
            <p:ph idx="1"/>
          </p:nvPr>
        </p:nvSpPr>
        <p:spPr/>
        <p:txBody>
          <a:bodyPr/>
          <a:lstStyle/>
          <a:p>
            <a:pPr/>
            <a:r>
              <a:rPr lang="ja-JP">
                <a:ea typeface="Meiryo UI"/>
              </a:rPr>
              <a:t>自由冷却モード 自動切替</a:t>
            </a:r>
          </a:p>
          <a:p>
            <a:pPr/>
            <a:r>
              <a:rPr lang="ja-JP">
                <a:ea typeface="Meiryo UI"/>
              </a:rPr>
              <a:t>自由冷却による節電量：210 MWh/年</a:t>
            </a:r>
          </a:p>
          <a:p>
            <a:pPr/>
            <a:r>
              <a:rPr lang="ja-JP">
                <a:ea typeface="Meiryo UI"/>
              </a:rPr>
              <a:t>凝縮水からの熱回収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lang="ja-JP">
                <a:ea typeface="Meiryo UI"/>
              </a:rPr>
              <a:t>給気温度リセット</a:t>
            </a:r>
          </a:p>
        </p:txBody>
      </p:sp>
      <p:sp>
        <p:nvSpPr>
          <p:cNvPr id="3" name="Content Placeholder 2"/>
          <p:cNvSpPr>
            <a:spLocks noGrp="1"/>
          </p:cNvSpPr>
          <p:nvPr>
            <p:ph idx="1"/>
          </p:nvPr>
        </p:nvSpPr>
        <p:spPr/>
        <p:txBody>
          <a:bodyPr/>
          <a:lstStyle/>
          <a:p>
            <a:pPr/>
            <a:r>
              <a:rPr lang="ja-JP">
                <a:ea typeface="Meiryo UI"/>
              </a:rPr>
              <a:t>給気温度リセットは13℃～18℃で実施</a:t>
            </a:r>
          </a:p>
          <a:p>
            <a:pPr/>
            <a:r>
              <a:rPr lang="ja-JP">
                <a:ea typeface="Meiryo UI"/>
              </a:rPr>
              <a:t>ゾーン負荷に基づくリセット</a:t>
            </a:r>
          </a:p>
          <a:p>
            <a:pPr/>
            <a:r>
              <a:rPr lang="ja-JP">
                <a:ea typeface="Meiryo UI"/>
              </a:rPr>
              <a:t>ダッシュボードに給気温度設定値が表示される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lang="ja-JP">
                <a:ea typeface="Meiryo UI"/>
              </a:rPr>
              <a:t>故障検出・診断（FDD）</a:t>
            </a:r>
          </a:p>
        </p:txBody>
      </p:sp>
      <p:sp>
        <p:nvSpPr>
          <p:cNvPr id="3" name="Content Placeholder 2"/>
          <p:cNvSpPr>
            <a:spLocks noGrp="1"/>
          </p:cNvSpPr>
          <p:nvPr>
            <p:ph idx="1"/>
          </p:nvPr>
        </p:nvSpPr>
        <p:spPr/>
        <p:txBody>
          <a:bodyPr/>
          <a:lstStyle/>
          <a:p>
            <a:pPr/>
            <a:r>
              <a:rPr lang="ja-JP">
                <a:ea typeface="Meiryo UI"/>
              </a:rPr>
              <a:t>故障検出・診断（FDD）は、15分ごとに実行されます。</a:t>
            </a:r>
          </a:p>
          <a:p>
            <a:pPr/>
            <a:r>
              <a:rPr lang="ja-JP">
                <a:ea typeface="Meiryo UI"/>
              </a:rPr>
              <a:t>故障検出・診断（FDD）のルールにより、冷却水プラントおよび空調機がチェックされます。</a:t>
            </a:r>
          </a:p>
          <a:p>
            <a:pPr/>
            <a:r>
              <a:rPr lang="ja-JP">
                <a:ea typeface="Meiryo UI"/>
              </a:rPr>
              <a:t>代表的な故障：ダンパーの固着、センサーのドリフト、同時加熱・冷却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lang="ja-JP">
                <a:ea typeface="Meiryo UI"/>
              </a:rPr>
              <a:t>需要制御換気</a:t>
            </a:r>
          </a:p>
        </p:txBody>
      </p:sp>
      <p:sp>
        <p:nvSpPr>
          <p:cNvPr id="3" name="Content Placeholder 2"/>
          <p:cNvSpPr>
            <a:spLocks noGrp="1"/>
          </p:cNvSpPr>
          <p:nvPr>
            <p:ph idx="1"/>
          </p:nvPr>
        </p:nvSpPr>
        <p:spPr/>
        <p:txBody>
          <a:bodyPr/>
          <a:lstStyle/>
          <a:p>
            <a:pPr/>
            <a:r>
              <a:rPr lang="ja-JP">
                <a:ea typeface="Meiryo UI"/>
              </a:rPr>
              <a:t>需要制御換気とは、会議室にCO2センサーを設置して利用する換気方式です。</a:t>
            </a:r>
          </a:p>
          <a:p>
            <a:pPr/>
            <a:r>
              <a:rPr lang="ja-JP">
                <a:ea typeface="Meiryo UI"/>
              </a:rPr>
              <a:t>需要制御換気を導入することで、ファンの消費エネルギーを25%削減することができます。</a:t>
            </a:r>
          </a:p>
          <a:p>
            <a:pPr/>
            <a:r>
              <a:rPr lang="ja-JP">
                <a:ea typeface="Meiryo UI"/>
              </a:rPr>
              <a:t>熱回収ユニットは、換気量が多い場合に動作します。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lang="ja-JP">
                <a:ea typeface="Meiryo UI"/>
              </a:rPr>
              <a:t>負荷切り下げ</a:t>
            </a:r>
          </a:p>
        </p:txBody>
      </p:sp>
      <p:sp>
        <p:nvSpPr>
          <p:cNvPr id="3" name="Content Placeholder 2"/>
          <p:cNvSpPr>
            <a:spLocks noGrp="1"/>
          </p:cNvSpPr>
          <p:nvPr>
            <p:ph idx="1"/>
          </p:nvPr>
        </p:nvSpPr>
        <p:spPr/>
        <p:txBody>
          <a:bodyPr/>
          <a:lstStyle/>
          <a:p>
            <a:pPr/>
            <a:r>
              <a:rPr lang="ja-JP">
                <a:ea typeface="Meiryo UI"/>
              </a:rPr>
              <a:t>負荷切り下げは、デマンドレスポンスの実施によって引き起こされます。</a:t>
            </a:r>
          </a:p>
          <a:p>
            <a:pPr/>
            <a:r>
              <a:rPr lang="ja-JP">
                <a:ea typeface="Meiryo UI"/>
              </a:rPr>
              <a:t>負荷切り下げの順序：照明、次に冷凍機の需要制限</a:t>
            </a:r>
          </a:p>
          <a:p>
            <a:pPr/>
            <a:r>
              <a:rPr lang="ja-JP">
                <a:ea typeface="Meiryo UI"/>
              </a:rPr>
              <a:t>傾向ログデータにより、負荷切り下げの実施状況が確認されます。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lang="ja-JP">
                <a:ea typeface="Meiryo UI"/>
              </a:rPr>
              <a:t>データと統合</a:t>
            </a:r>
          </a:p>
        </p:txBody>
      </p:sp>
      <p:sp>
        <p:nvSpPr>
          <p:cNvPr id="3" name="Content Placeholder 2"/>
          <p:cNvSpPr>
            <a:spLocks noGrp="1"/>
          </p:cNvSpPr>
          <p:nvPr>
            <p:ph idx="1"/>
          </p:nvPr>
        </p:nvSpPr>
        <p:spPr/>
        <p:txBody>
          <a:bodyPr/>
          <a:lstStyle/>
          <a:p>
            <a:pPr/>
            <a:r>
              <a:rPr lang="ja-JP">
                <a:ea typeface="Meiryo UI"/>
              </a:rPr>
              <a:t>このポイントリストには、2,400個のBACnetオブジェクトが含まれています。</a:t>
            </a:r>
          </a:p>
          <a:p>
            <a:pPr/>
            <a:r>
              <a:rPr lang="ja-JP">
                <a:ea typeface="Meiryo UI"/>
              </a:rPr>
              <a:t>トレンドログ間隔：5分</a:t>
            </a:r>
          </a:p>
          <a:p>
            <a:pPr/>
            <a:r>
              <a:rPr lang="ja-JP">
                <a:ea typeface="Meiryo UI"/>
              </a:rPr>
              <a:t>このポイントリストは、毎週クラウドプラットフォームにエクスポートされます。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