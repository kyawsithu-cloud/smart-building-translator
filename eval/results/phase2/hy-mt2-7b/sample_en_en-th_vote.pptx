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ระบบจัดการอาคาร ระบบจัดการอาคาร จะเก็บข้อมูลจากจุดตรวจสอบมากกว่า 2,000 จุด และส่งสัญญาณเตือนภัยไปยังผู้ดูแลระบบภายในเวลาไม่เกิน 5 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th-TH"/>
              <a:t>การควบคุมการประหยัดพลังงานจะถูกเปิดใช้งานก็ต่อเมื่ออัตราการใช้งานอยู่ที่ระดับต่ำกว่า 30 เปอร์เซ็นต์ และอุณหภูมิอากาศภายนอกสูงกว่า 32 °C 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th-TH"/>
              <a:t>ภาพรวมของแพลตฟอร์มอาคารอัจฉริยะ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th-TH"/>
              <a:t>ข้อเสนอการผสานรวมระบบจัดการอาคาร (BMS) — 15 มีนาคม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ระบบจัดการอาคาร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ระบบจัดการอาคาร </a:t>
            </a:r>
            <a:r>
              <a:rPr b="1" lang="th-TH"/>
              <a:t>ระบบจัดการอาคาร</a:t>
            </a:r>
            <a:r>
              <a:rPr lang="th-TH"/>
              <a:t> ทำหน้าที่ตรวจสอบและควบคุมอุปกรณ์ HVAC</a:t>
            </a:r>
          </a:p>
          <a:p>
            <a:pPr lvl="1"/>
            <a:r>
              <a:rPr lang="th-TH"/>
              <a:t>การควบคุม (AHU) และ (FCU)</a:t>
            </a:r>
          </a:p>
          <a:p>
            <a:pPr lvl="1"/>
            <a:r>
              <a:rPr lang="th-TH"/>
              <a:t>การควบคุมปลายทางแบบ (VAV)</a:t>
            </a:r>
          </a:p>
          <a:p>
            <a:pPr/>
            <a:r>
              <a:rPr lang="th-TH"/>
              <a:t>การตรวจสอบ </a:t>
            </a:r>
            <a:r>
              <a:rPr b="1" lang="th-TH">
                <a:solidFill>
                  <a:srgbClr val="C01F1F"/>
                </a:solidFill>
              </a:rPr>
              <a:t>สัญญาณเตือนภัย</a:t>
            </a:r>
            <a:r>
              <a:rPr lang="th-TH"/>
              <a:t> และ </a:t>
            </a:r>
            <a:r>
              <a:rPr i="1" lang="th-TH"/>
              <a:t>สถานะของอุปกรณ์</a:t>
            </a:r>
            <a:r>
              <a:rPr lang="th-TH"/>
              <a:t> ตลอด 24 ชั่วโมงทุกวัน</a:t>
            </a:r>
          </a:p>
          <a:p>
            <a:pPr/>
            <a:r>
              <a:rPr lang="th-TH"/>
              <a:t>ระบบจัดการพลังงาน (EMS) สำหรับการวิเคราะห์การใช้พลังงาน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เซ็นเซอร์และอุปกรณ์ใช้งานในพื้นที่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เซ็นเซอร์ตรวจจับการมีคนอยู่</a:t>
            </a:r>
          </a:p>
          <a:p>
            <a:pPr/>
            <a:r>
              <a:rPr lang="th-TH"/>
              <a:t>เซ็นเซอร์ CO2 (0–2,000 ส่วนในล้านส่วน)</a:t>
            </a:r>
          </a:p>
          <a:p>
            <a:pPr/>
            <a:r>
              <a:rPr lang="th-TH"/>
              <a:t>เซ็นเซอร์อุณหภูมิ: ความแม่นยำ ±0.2 °C</a:t>
            </a:r>
          </a:p>
          <a:p>
            <a:pPr/>
            <a:r>
              <a:rPr lang="th-TH"/>
              <a:t>ความชื้น: 30–70 %RH</a:t>
            </a:r>
          </a:p>
          <a:p>
            <a:pPr/>
            <a:r>
              <a:rPr lang="th-TH"/>
              <a:t>ควบคุมเครื่อง </a:t>
            </a:r>
            <a:r>
              <a:rPr b="1" lang="th-TH"/>
              <a:t>FX-PCG2611-0</a:t>
            </a:r>
            <a:r>
              <a:rPr lang="th-TH"/>
              <a:t> โดยใช้ฟิร์มแวร์เวอร์ชัน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โครงสร้างระบบ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อุปกรณ์ Edge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เกตเวย์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แพลตฟอร์มคลาวด์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th-TH"/>
                <a:t>แผงควบคุม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th-TH"/>
              <a:t>ตัวควบคุมในสนามจะสื่อสารกันผ่าน BACnet/IP และ Modbus TCP ส่วนเกตเวย์จะทำหน้าที่ส่งข้อมูลวัดไปยังแพลตฟอร์มคลาวด์โดยใช้ MQTT ผ่าน TLS (พอร์ต 8883)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การเปรียบเทียบโปรโตคอล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โปรโตคอล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การส่งข้อมูล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การใช้งานทั่วไป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พอร์ตเริ่มต้น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ตัวควบคุม HVAC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มิเตอร์วัดกำลังไฟฟ้า, เครื่องทำความเย็น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การส่งข้อมูล IoT ไปยังคลาวด์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th-TH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คู่สายม้วน/IP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ระบบไฟส่องสว่างและบลินด์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ประสิทธิภาพด้านพลังงานและการตอบสนองความต้องการ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ปริมาณความต้องการไฟฟ้าในช่วงเวลาสูงสุดลดลง 18% ในช่วงฤดูร้อนปี 2025</a:t>
            </a:r>
          </a:p>
          <a:p>
            <a:pPr/>
            <a:r>
              <a:rPr lang="th-TH"/>
              <a:t>การใช้พลังงาน: 1,250 เมกะวัตต์-ชั่วโมง/ปี → 1,020 เมกะวัตต์-ชั่วโมง/ปี</a:t>
            </a:r>
          </a:p>
          <a:p>
            <a:pPr/>
            <a:r>
              <a:rPr lang="th-TH"/>
              <a:t>สัญญาณ </a:t>
            </a:r>
            <a:r>
              <a:rPr b="1" lang="th-TH"/>
              <a:t>การตอบสนองความต้องการ</a:t>
            </a:r>
            <a:r>
              <a:rPr lang="th-TH"/>
              <a:t> จะถูกส่งมาจากหน่วยงานผู้ให้บริการผ่านทาง </a:t>
            </a:r>
            <a:r>
              <a:rPr b="1" lang="th-TH">
                <a:solidFill>
                  <a:srgbClr val="1F4E9A"/>
                </a:solidFill>
              </a:rPr>
              <a:t>OpenADR 2.0b</a:t>
            </a:r>
          </a:p>
          <a:p>
            <a:pPr/>
            <a:r>
              <a:rPr lang="th-TH"/>
              <a:t>การปรับค่าตั้งค่า: เพิ่มค่าตั้งค่าการทำความเย็นจาก 24 °C เป็น 26 °C ในช่วงเวลาที่มีความต้องการสูง</a:t>
            </a:r>
          </a:p>
          <a:p>
            <a:pPr/>
            <a:r>
              <a:rPr lang="th-TH"/>
              <a:t>จะมีการวัดการใช้พลังงานทุกๆ 15 นาที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เครือข่ายและการเข้าถึง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เซิร์ฟเวอร์ BMS: 192.168.1.100 (VLAN 20)</a:t>
            </a:r>
          </a:p>
          <a:p>
            <a:pPr/>
            <a:r>
              <a:rPr lang="th-TH"/>
              <a:t>แดชบอร์ดเว็บ: https://bms.example.com/dashboard</a:t>
            </a:r>
          </a:p>
          <a:p>
            <a:pPr/>
            <a:r>
              <a:rPr lang="th-TH"/>
              <a:t>การสนับสนุน: support@example.com</a:t>
            </a:r>
          </a:p>
          <a:p>
            <a:pPr/>
            <a:r>
              <a:rPr lang="th-TH"/>
              <a:t>ไฟล์กำหนดค่า: C:\Program Files\BMS\config\points.json</a:t>
            </a:r>
          </a:p>
          <a:p>
            <a:pPr/>
            <a:r>
              <a:rPr lang="th-TH"/>
              <a:t>REST API ผ่าน HTTPS โดยมีข้อมูลที่ส่งมาอยู่ในรูปแบบ JSON ส่วนการส่งออกข้อมูลแบบเก่าจะอยู่ในรูปแบบ XML และ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/>
              <a:t>การดำเนินงานและการบำรุงรักษา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เมื่อเกิดสัญญาณเตือนของเครื่องทำความเย็น ระบบจะส่งการแจ้งเตือนไปยังทีมบำรุงรักษาทางอีเมลโดยอัตโนมัติพร้อมสร้างใบสั่งงาน และหากไม่มีการตอบกลับภายใน 30 นาที จะมีการส่งต่อเรื่องนี้ไปยังผู้จัดการสถานที่</a:t>
            </a:r>
          </a:p>
          <a:p>
            <a:pPr/>
            <a:r>
              <a:rPr lang="th-TH"/>
              <a:t>มีการบำรุงรักษาตัวกรองของ AHU ตามกำหนดทุกๆ 3 เดือน</a:t>
            </a:r>
          </a:p>
          <a:p>
            <a:pPr/>
            <a:r>
              <a:rPr lang="th-TH"/>
              <a:t>ระบบ PLC และ SCADA จะยังคงทำงานต่อไปในช่วงเวลาการย้ายถ่ายโอน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th-TH" sz="3520"/>
              <a:t>แผนทางการพัฒนาระบบอัตโนมัติสำหรับอาคาร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th-TH"/>
              <a:t>ขั้นตอนที่ 1 (ไตรมาส 2 ปี 2026): การอัปเกรดระบบอัตโนมัติสำหรับอาคาร</a:t>
            </a:r>
          </a:p>
          <a:p>
            <a:pPr/>
            <a:r>
              <a:rPr lang="th-TH"/>
              <a:t>ขั้นตอนที่ 2 (ไตรมาส 4 ปี 2026): เซ็นเซอร์ IoT และอุปกรณ์ Edge</a:t>
            </a:r>
          </a:p>
          <a:p>
            <a:pPr/>
            <a:r>
              <a:rPr lang="th-TH"/>
              <a:t>ขั้นตอนที่ 3 (ปี 2027): การตรวจจับและวินิจฉัยข้อผิดพลาดโดยใช้ AI (FDD)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