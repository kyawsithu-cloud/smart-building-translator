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The Building Management System collects data from over 2,000 monitoring points and sends alarms to operators within 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The energy conservation control is activated only when the occupancy rate is below 30% and the outdoor air temperature exceeds 32 °C.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en-US"/>
              <a:t>Overview of Smart Building Platforms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en-US" sz="3740"/>
              <a:t>Integration Proposal for Building Management System (BMS) — March 15,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/>
              <a:t>Building Management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en-US"/>
              <a:t>The </a:t>
            </a:r>
            <a:r>
              <a:rPr b="1" lang="en-US"/>
              <a:t>Building Management System</a:t>
            </a:r>
            <a:r>
              <a:rPr lang="en-US"/>
              <a:t> monitors and controls HVAC systems.</a:t>
            </a:r>
          </a:p>
          <a:p>
            <a:pPr lvl="1"/>
            <a:r>
              <a:rPr lang="en-US"/>
              <a:t>Control of air handling units (AHU) and fan coil units (FCU)</a:t>
            </a:r>
          </a:p>
          <a:p>
            <a:pPr lvl="1"/>
            <a:r>
              <a:rPr lang="en-US"/>
              <a:t>Variable air volume (VAV) terminal control</a:t>
            </a:r>
          </a:p>
          <a:p>
            <a:pPr/>
            <a:r>
              <a:rPr lang="en-US"/>
              <a:t>24/7 monitoring of </a:t>
            </a:r>
            <a:r>
              <a:rPr b="1" lang="en-US">
                <a:solidFill>
                  <a:srgbClr val="C01F1F"/>
                </a:solidFill>
              </a:rPr>
              <a:t>alarm</a:t>
            </a:r>
            <a:r>
              <a:rPr lang="en-US"/>
              <a:t> and </a:t>
            </a:r>
            <a:r>
              <a:rPr i="1" lang="en-US"/>
              <a:t>equipment status</a:t>
            </a:r>
          </a:p>
          <a:p>
            <a:pPr/>
            <a:r>
              <a:rPr lang="en-US"/>
              <a:t>Energy Management System (EMS) for energy consumption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/>
              <a:t>Sensors and Field Devices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en-US"/>
              <a:t>Occupancy sensor</a:t>
            </a:r>
          </a:p>
          <a:p>
            <a:pPr/>
            <a:r>
              <a:rPr lang="en-US"/>
              <a:t>CO2 sensor (0–2,000 ppm)</a:t>
            </a:r>
          </a:p>
          <a:p>
            <a:pPr/>
            <a:r>
              <a:rPr lang="en-US"/>
              <a:t>Temperature sensor: Accuracy ±0.2 °C</a:t>
            </a:r>
          </a:p>
          <a:p>
            <a:pPr/>
            <a:r>
              <a:rPr lang="en-US"/>
              <a:t>Humidity: 30–70 %RH</a:t>
            </a:r>
          </a:p>
          <a:p>
            <a:pPr/>
            <a:r>
              <a:rPr lang="en-US"/>
              <a:t>Model </a:t>
            </a:r>
            <a:r>
              <a:rPr b="1" lang="en-US"/>
              <a:t>FX-PCG2611-0</a:t>
            </a:r>
            <a:r>
              <a:rPr lang="en-US"/>
              <a:t> controller, firmware v3.2.1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/>
              <a:t>System Architecture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365760" y="2011680"/>
            <a:ext cx="8366760" cy="1097280"/>
            <a:chOff x="365760" y="2011680"/>
            <a:chExt cx="8366760" cy="1097280"/>
          </a:xfrm>
        </p:grpSpPr>
        <p:sp>
          <p:nvSpPr>
            <p:cNvPr id="4" name="Rectangle 3"/>
            <p:cNvSpPr/>
            <p:nvPr/>
          </p:nvSpPr>
          <p:spPr>
            <a:xfrm>
              <a:off x="365760" y="2011680"/>
              <a:ext cx="1920240" cy="10972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 lang="en-US"/>
                <a:t>Edge device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2514600" y="2011680"/>
              <a:ext cx="1920240" cy="10972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 lang="en-US"/>
                <a:t>Gateway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4663440" y="2011680"/>
              <a:ext cx="1920240" cy="10972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 lang="en-US"/>
                <a:t>Cloud platform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6812280" y="2011680"/>
              <a:ext cx="1920240" cy="10972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 lang="en-US"/>
                <a:t>Dashboard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lang="en-US"/>
              <a:t>The field controller communicates using BACnet/IP and Modbus TCP, while the gateway sends telemetry to the cloud platform via MQTT over TLS (port 8883).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/>
              <a:t>Protocol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46304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731520">
                <a:tc>
                  <a:txBody>
                    <a:bodyPr/>
                    <a:lstStyle/>
                    <a:p>
                      <a:r>
                        <a:rPr lang="en-US"/>
                        <a:t>Protocol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Transport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Primary Uses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Default Port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en-US"/>
                        <a:t>BACnet/IP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UDP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Air conditioning controller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47808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en-US"/>
                        <a:t>Modbus 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Power meter, chiller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502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en-US"/>
                        <a:t>MQTT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IoT telemetry to the cloud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1883 / 8883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en-US"/>
                        <a:t>KNX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Twisted Pair / 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Lighting and blinds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3671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/>
              <a:t>Energy Conservation and Demand Response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en-US" sz="2880"/>
              <a:t>Reduce peak demand by 18% by the summer of 2025</a:t>
            </a:r>
          </a:p>
          <a:p>
            <a:pPr/>
            <a:r>
              <a:rPr lang="en-US" sz="2880"/>
              <a:t>Energy consumption: 1,250 MWh/year → 1,020 MWh/year</a:t>
            </a:r>
          </a:p>
          <a:p>
            <a:pPr/>
            <a:r>
              <a:rPr b="1" lang="en-US" sz="2880"/>
              <a:t>Demand Response</a:t>
            </a:r>
            <a:r>
              <a:rPr lang="en-US" sz="2880"/>
              <a:t> signals are received from power companies via </a:t>
            </a:r>
            <a:r>
              <a:rPr b="1" lang="en-US" sz="2880">
                <a:solidFill>
                  <a:srgbClr val="1F4E9A"/>
                </a:solidFill>
              </a:rPr>
              <a:t>OpenADR 2.0b</a:t>
            </a:r>
            <a:r>
              <a:rPr lang="en-US" sz="2880"/>
              <a:t>.</a:t>
            </a:r>
          </a:p>
          <a:p>
            <a:pPr/>
            <a:r>
              <a:rPr lang="en-US" sz="2880"/>
              <a:t>Setpoint adjustment: Change the air conditioning setpoint from 24 °C to 26 °C during peak hours</a:t>
            </a:r>
          </a:p>
          <a:p>
            <a:pPr/>
            <a:r>
              <a:rPr lang="en-US" sz="2880"/>
              <a:t>Power consumption is measured every 15 minutes.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/>
              <a:t>Networks and Access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en-US"/>
              <a:t>BMS server: 192.168.1.100 (VLAN 20)</a:t>
            </a:r>
          </a:p>
          <a:p>
            <a:pPr/>
            <a:r>
              <a:rPr lang="en-US"/>
              <a:t>Web dashboard: https://bms.example.com/dashboard</a:t>
            </a:r>
          </a:p>
          <a:p>
            <a:pPr/>
            <a:r>
              <a:rPr lang="en-US"/>
              <a:t>Support: support@example.com</a:t>
            </a:r>
          </a:p>
          <a:p>
            <a:pPr/>
            <a:r>
              <a:rPr lang="en-US"/>
              <a:t>Configuration file: C:\Program Files\BMS\config\points.json</a:t>
            </a:r>
          </a:p>
          <a:p>
            <a:pPr/>
            <a:r>
              <a:rPr lang="en-US"/>
              <a:t>REST API over HTTPS. The payload is JSON, while older export formats use XML and SQL.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/>
              <a:t>Operation &amp; Maintenance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en-US" sz="3040"/>
              <a:t>When an alarm is triggered on a chiller, the system automatically sends an email notification to the maintenance team to create a work order. If the alarm is not resolved within 30 minutes, it is escalated to the facility manager.</a:t>
            </a:r>
          </a:p>
          <a:p>
            <a:pPr/>
            <a:r>
              <a:rPr lang="en-US" sz="3040"/>
              <a:t>Regular maintenance for air handling unit filters is carried out every 3 months.</a:t>
            </a:r>
          </a:p>
          <a:p>
            <a:pPr/>
            <a:r>
              <a:rPr lang="en-US" sz="3040"/>
              <a:t>The PLC and SCADA systems will continue to operate throughout the transition period.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