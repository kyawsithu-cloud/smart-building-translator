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ja-JP">
                <a:ea typeface="Meiryo UI"/>
              </a:rPr>
              <a:t>ビル管理システムは、2,000箇所以上のポイントからデータを収集し、5秒以内にオペレーターに警報を送信します。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ja-JP">
                <a:ea typeface="Meiryo UI"/>
              </a:rPr>
              <a:t>省エネ制御は、在室率が30パーセント未満でかつ外気温度が32℃を超える場合にのみ有効になります。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スマートビルディングプラットフォーム概要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ビル管理システム（BMS）連携提案 — 2026年3月15日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ビル管理システム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 lang="ja-JP">
                <a:ea typeface="Meiryo UI"/>
              </a:rPr>
              <a:t>ビル管理システム</a:t>
            </a:r>
            <a:r>
              <a:rPr lang="ja-JP">
                <a:ea typeface="Meiryo UI"/>
              </a:rPr>
              <a:t>は、HVAC機器の監視および制御を行います。</a:t>
            </a:r>
          </a:p>
          <a:p>
            <a:pPr lvl="1"/>
            <a:r>
              <a:rPr lang="ja-JP">
                <a:ea typeface="Meiryo UI"/>
              </a:rPr>
              <a:t>空調機(AHU)およびファンコイルユニット(FCU)の制御</a:t>
            </a:r>
          </a:p>
          <a:p>
            <a:pPr lvl="1"/>
            <a:r>
              <a:rPr lang="ja-JP">
                <a:ea typeface="Meiryo UI"/>
              </a:rPr>
              <a:t>可変風量（VAV）端子制御</a:t>
            </a:r>
          </a:p>
          <a:p>
            <a:pPr/>
            <a:r>
              <a:rPr lang="ja-JP">
                <a:ea typeface="Meiryo UI"/>
              </a:rPr>
              <a:t>24時間365日の</a:t>
            </a:r>
            <a:r>
              <a:rPr b="1" lang="ja-JP">
                <a:solidFill>
                  <a:srgbClr val="C01F1F"/>
                </a:solidFill>
                <a:ea typeface="Meiryo UI"/>
              </a:rPr>
              <a:t>警報</a:t>
            </a:r>
            <a:r>
              <a:rPr lang="ja-JP">
                <a:ea typeface="Meiryo UI"/>
              </a:rPr>
              <a:t>および</a:t>
            </a:r>
            <a:r>
              <a:rPr i="1" lang="ja-JP">
                <a:ea typeface="Meiryo UI"/>
              </a:rPr>
              <a:t>機器状態</a:t>
            </a:r>
            <a:r>
              <a:rPr lang="ja-JP">
                <a:ea typeface="Meiryo UI"/>
              </a:rPr>
              <a:t>監視</a:t>
            </a:r>
          </a:p>
          <a:p>
            <a:pPr/>
            <a:r>
              <a:rPr lang="ja-JP">
                <a:ea typeface="Meiryo UI"/>
              </a:rPr>
              <a:t>エネルギー管理システム（EMS）は、エネルギー消費量の分析を行うためのシステムです。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センサーとフィールド機器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在室センサー</a:t>
            </a:r>
          </a:p>
          <a:p>
            <a:pPr/>
            <a:r>
              <a:rPr lang="ja-JP">
                <a:ea typeface="Meiryo UI"/>
              </a:rPr>
              <a:t>CO2センサー（0～2,000 ppm）</a:t>
            </a:r>
          </a:p>
          <a:p>
            <a:pPr/>
            <a:r>
              <a:rPr lang="ja-JP">
                <a:ea typeface="Meiryo UI"/>
              </a:rPr>
              <a:t>温度センサー：精度±0.2℃</a:t>
            </a:r>
          </a:p>
          <a:p>
            <a:pPr/>
            <a:r>
              <a:rPr lang="ja-JP">
                <a:ea typeface="Meiryo UI"/>
              </a:rPr>
              <a:t>湿度：30～70%RH</a:t>
            </a:r>
          </a:p>
          <a:p>
            <a:pPr/>
            <a:r>
              <a:rPr lang="ja-JP">
                <a:ea typeface="Meiryo UI"/>
              </a:rPr>
              <a:t>モデル</a:t>
            </a:r>
            <a:r>
              <a:rPr b="1" lang="ja-JP">
                <a:ea typeface="Meiryo UI"/>
              </a:rPr>
              <a:t>FX-PCG2611-0</a:t>
            </a:r>
            <a:r>
              <a:rPr lang="ja-JP">
                <a:ea typeface="Meiryo UI"/>
              </a:rPr>
              <a:t>コントローラー、ファームウェアv3.2.1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システムアーキテクチャ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65760" y="2011680"/>
            <a:ext cx="8366760" cy="1097280"/>
            <a:chOff x="365760" y="2011680"/>
            <a:chExt cx="8366760" cy="1097280"/>
          </a:xfrm>
        </p:grpSpPr>
        <p:sp>
          <p:nvSpPr>
            <p:cNvPr id="4" name="Rectangle 3"/>
            <p:cNvSpPr/>
            <p:nvPr/>
          </p:nvSpPr>
          <p:spPr>
            <a:xfrm>
              <a:off x="36576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ja-JP">
                  <a:ea typeface="Meiryo UI"/>
                </a:rPr>
                <a:t>エッジデバイス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251460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ja-JP">
                  <a:ea typeface="Meiryo UI"/>
                </a:rPr>
                <a:t>ゲートウェイ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466344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ja-JP">
                  <a:ea typeface="Meiryo UI"/>
                </a:rPr>
                <a:t>クラウドプラットフォーム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81228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ja-JP">
                  <a:ea typeface="Meiryo UI"/>
                </a:rPr>
                <a:t>ダッシュボード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lang="ja-JP">
                <a:ea typeface="Meiryo UI"/>
              </a:rPr>
              <a:t>フィールドコントローラーはBACnet/IPおよびModbus TCPを介して通信を行い、ゲートウェイはTLS（ポート8883）を使用したMQTT経由で遠隔計測データをクラウドプラットフォームに送信します。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プロトコル比較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731520"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プロトコル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転送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典型的な利用例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デフォルトポート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BACnet/IP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UDP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HVACコントローラー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47808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Modbus 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電力計、冷凍機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502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MQTT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クラウドへのIoTテレメトリー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1883 / 8883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KNX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ツイストペア／IP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照明とブラインド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3671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エネルギー効率とデマンドレスポンス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2025年夏のピーク需要18%削減</a:t>
            </a:r>
          </a:p>
          <a:p>
            <a:pPr/>
            <a:r>
              <a:rPr lang="ja-JP">
                <a:ea typeface="Meiryo UI"/>
              </a:rPr>
              <a:t>エネルギー消費量：年間1,250 MWh → 年間1,020 MWh</a:t>
            </a:r>
          </a:p>
          <a:p>
            <a:pPr/>
            <a:r>
              <a:rPr b="1" lang="ja-JP">
                <a:ea typeface="Meiryo UI"/>
              </a:rPr>
              <a:t>デマンドレスポンス</a:t>
            </a:r>
            <a:r>
              <a:rPr lang="ja-JP">
                <a:ea typeface="Meiryo UI"/>
              </a:rPr>
              <a:t>の信号は、</a:t>
            </a:r>
            <a:r>
              <a:rPr b="1" lang="ja-JP">
                <a:solidFill>
                  <a:srgbClr val="1F4E9A"/>
                </a:solidFill>
                <a:ea typeface="Meiryo UI"/>
              </a:rPr>
              <a:t>OpenADR 2.0b</a:t>
            </a:r>
            <a:r>
              <a:rPr lang="ja-JP">
                <a:ea typeface="Meiryo UI"/>
              </a:rPr>
              <a:t>経由で電力会社から受信される</a:t>
            </a:r>
          </a:p>
          <a:p>
            <a:pPr/>
            <a:r>
              <a:rPr lang="ja-JP">
                <a:ea typeface="Meiryo UI"/>
              </a:rPr>
              <a:t>設定値調整：ピーク時間帯の冷却設定値を24℃から26℃に引き上げる</a:t>
            </a:r>
          </a:p>
          <a:p>
            <a:pPr/>
            <a:r>
              <a:rPr lang="ja-JP">
                <a:ea typeface="Meiryo UI"/>
              </a:rPr>
              <a:t>消費電力は15分ごとに測定される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ネットワークとアクセス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BMSサーバー：192.168.1.100（VLAN20）</a:t>
            </a:r>
          </a:p>
          <a:p>
            <a:pPr/>
            <a:r>
              <a:rPr lang="ja-JP">
                <a:ea typeface="Meiryo UI"/>
              </a:rPr>
              <a:t>Webダッシュボード：https://bms.example.com/dashboard</a:t>
            </a:r>
          </a:p>
          <a:p>
            <a:pPr/>
            <a:r>
              <a:rPr lang="ja-JP">
                <a:ea typeface="Meiryo UI"/>
              </a:rPr>
              <a:t>サポート：support@example.com</a:t>
            </a:r>
          </a:p>
          <a:p>
            <a:pPr/>
            <a:r>
              <a:rPr lang="ja-JP">
                <a:ea typeface="Meiryo UI"/>
              </a:rPr>
              <a:t>設定ファイル：C:\Program Files\BMS\config\points.json</a:t>
            </a:r>
          </a:p>
          <a:p>
            <a:pPr/>
            <a:r>
              <a:rPr lang="ja-JP">
                <a:ea typeface="Meiryo UI"/>
              </a:rPr>
              <a:t>HTTPS経由のREST API、JSON形式のペイロード、XMLおよびSQL形式の従来エクスポート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運用・保守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冷凍機の警報が発生すると、システムは自動的にメールで保守チームに通知し、作業指示を作成します。また、30分以内にその警報が対応されない場合は、問題が施設管理者に報告されます。</a:t>
            </a:r>
          </a:p>
          <a:p>
            <a:pPr/>
            <a:r>
              <a:rPr lang="ja-JP">
                <a:ea typeface="Meiryo UI"/>
              </a:rPr>
              <a:t>AHUのフィルターに関する定期的な保守作業は、3ヶ月ごとに行われます。</a:t>
            </a:r>
          </a:p>
          <a:p>
            <a:pPr/>
            <a:r>
              <a:rPr lang="ja-JP">
                <a:ea typeface="Meiryo UI"/>
              </a:rPr>
              <a:t>移行期間中も、PLCおよびSCADAシステムは引き続き稼働し続けます。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ja-JP" sz="3740">
                <a:ea typeface="Meiryo UI"/>
              </a:rPr>
              <a:t>ビルオートメーションロードマップ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第1フェーズ（2026年Q2）：ビルオートメーションシステムのアップグレード</a:t>
            </a:r>
          </a:p>
          <a:p>
            <a:pPr/>
            <a:r>
              <a:rPr lang="ja-JP">
                <a:ea typeface="Meiryo UI"/>
              </a:rPr>
              <a:t>第2フェーズ（2026年Q4）：IoTセンサーとエッジデバイス</a:t>
            </a:r>
          </a:p>
          <a:p>
            <a:pPr/>
            <a:r>
              <a:rPr lang="ja-JP">
                <a:ea typeface="Meiryo UI"/>
              </a:rPr>
              <a:t>第3フェーズ（2027年）：AIによる故障検出・診断（FDD）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